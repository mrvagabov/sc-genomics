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E4083-24D4-40B9-A833-E3C25AA9E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637470-374B-474D-911E-2DCB74C8E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4DDB6F-4BCC-449C-B54A-D32BE8CD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755D78-51BF-4069-823A-7FA6153B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61092E-2B11-4E0F-A5BB-BFD3FF49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46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F37AF-CB4D-4E10-B811-F9B01763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BAEBDF-DDD7-4FA4-8658-1BD92CD95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627A5C-2B02-4F60-9A23-E695B74C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B49E22-0666-4CBD-8AE6-05DD1183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98DD37-ACF6-4B1B-BC94-7FBBBC48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11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6173D-0A0B-474D-A767-25C4DF44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0077B0-2BCF-4C6B-A981-25E8F9F9D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566874-765B-48F2-8AEB-21537C91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A69943-4788-455E-B8BE-8309EF7F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21721B-714B-4FAF-9F3C-810E505A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3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84D81-26BF-4FAE-84DF-E71073D9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BC9CAB-0459-4C04-8B48-0CEE33278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B3B729-F467-4D22-B776-0A3C97C3F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DF1FE7-006E-466F-BFB5-78823856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EEC9C7-EA66-4874-8D51-06D69E20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086C88-E2EB-45D8-9AFF-28A0D583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667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DD3AC-A551-48B9-A87C-C4E941A6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F3D82E-51E2-4833-AE50-99BA76325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3AB4CB-5708-47CB-9A3C-258220F63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70C900-EDC9-4F2C-B074-BDB22CEFD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9EBA53-7187-44F3-AAED-374EE108C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9D79A1-5230-4638-A2F6-7B4D978E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5B3BE09-5619-457E-8003-F646D0AE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8B6F92-4CAB-4A8C-A3AF-58A25E9D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7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BD148-7911-4AA1-B56B-044F1D836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88356E-4F33-4AD0-9115-2D316119A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E0F220-E41F-4234-B22E-106DCA37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D8912F-2087-40EE-B4EF-C7E29E17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63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A6F418F-97CD-4F45-B960-424A7EF5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E6B3F9-F652-42B0-A6B4-C239AB63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F105-2705-4683-AB28-7120776B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66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CA48B-A3DB-49CE-96BB-CCD350A0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3D3234-DDCD-4206-8022-CE17D8ED4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7E9053-50AF-4B04-9941-9F09B1162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2B9B2E-8690-4A75-9826-DBB153A7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187993-69EB-4491-B636-F79FCDF4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004E0-7B1F-4363-AF8E-413F6F0A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04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D309E-4F59-4714-801E-300520EE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32DCD0-CBA5-4BF4-B5EE-A2B1E9004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E6115F-06CF-4E05-9F1B-BDD32B6A5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ACF5CB-0BC4-4CEA-86DD-5B028658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166CFF-DDD6-42A8-9C31-20294BB1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7F1B5A-6CF2-4546-AED6-49C13CC5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2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A89F45-1A54-4B0A-B4F2-7EBC0641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2F4F84-52F4-4661-8257-BDD3A5CC8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C8FDB8-84A6-4076-9294-A70A06CD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C1E258-52FE-4AE9-BF7D-1D010879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E50819-81FF-47FF-A651-A34B6095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A60191-9F8D-487E-B8D4-18D359A84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2DA722-C122-4543-BE03-0DCF9B8B2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17C585-824E-4A6A-B192-59A6DC07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B0A6DD-39FD-41BF-AE86-7A3F7380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646E7-1465-4112-B607-8530DADF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48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C2B3D-2046-4183-A9A5-C9F8A7C2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D954D-88C3-421A-9F7F-D24F4189B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F6CEFE-A7D9-4B5F-B892-DB5AE7EC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90D31-A90F-4266-879F-879347F3BD9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314797-A991-4F90-96BE-95D24C069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22E4A7-9AB4-4477-B8AD-C6B4DE80B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E6140-70CA-4325-9814-F856DA76F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58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7F26F-2AE9-4AFC-8703-F186C2BA4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Анализ межклеточных взаимодействий в liana-py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9301C1-66ED-4FD5-9E32-F5FD1CE62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04553"/>
            <a:ext cx="9144000" cy="1655762"/>
          </a:xfrm>
        </p:spPr>
        <p:txBody>
          <a:bodyPr>
            <a:normAutofit/>
          </a:bodyPr>
          <a:lstStyle/>
          <a:p>
            <a:r>
              <a:rPr lang="en-US"/>
              <a:t>Merab Vagabov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889E7D0-39B9-4E1C-9EFC-608097D14C03}"/>
              </a:ext>
            </a:extLst>
          </p:cNvPr>
          <p:cNvSpPr txBox="1">
            <a:spLocks/>
          </p:cNvSpPr>
          <p:nvPr/>
        </p:nvSpPr>
        <p:spPr>
          <a:xfrm>
            <a:off x="1524000" y="631343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9168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Для чего нужен этот анализ?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/>
              <a:t>Клетки взаимодействуют через лиганд-рецепторные пары</a:t>
            </a:r>
          </a:p>
          <a:p>
            <a:r>
              <a:rPr lang="ru-RU" sz="2400"/>
              <a:t>В </a:t>
            </a:r>
            <a:r>
              <a:rPr lang="en-US" sz="2400"/>
              <a:t>Single cell </a:t>
            </a:r>
            <a:r>
              <a:rPr lang="ru-RU" sz="2400"/>
              <a:t>RNA-seq мы наблюдаем только экспрессию генов, а не саму коммуникацию</a:t>
            </a:r>
          </a:p>
          <a:p>
            <a:r>
              <a:rPr lang="ru-RU" sz="2400"/>
              <a:t>Экспрессия лиганда и рецептора не равно функциональное взаимодействие</a:t>
            </a:r>
          </a:p>
          <a:p>
            <a:r>
              <a:rPr lang="en-US" sz="2400"/>
              <a:t>Cell-to-cell communication</a:t>
            </a:r>
            <a:r>
              <a:rPr lang="ru-RU" sz="2400"/>
              <a:t> - это задача статистического анализа, а не прямого измерения</a:t>
            </a:r>
          </a:p>
          <a:p>
            <a:r>
              <a:rPr lang="ru-RU" sz="2400"/>
              <a:t>Разные методы формализуют </a:t>
            </a:r>
            <a:r>
              <a:rPr lang="en-US" sz="2400"/>
              <a:t>“</a:t>
            </a:r>
            <a:r>
              <a:rPr lang="ru-RU" sz="2400"/>
              <a:t>силу взаимодействия</a:t>
            </a:r>
            <a:r>
              <a:rPr lang="en-US" sz="2400"/>
              <a:t>”</a:t>
            </a:r>
            <a:r>
              <a:rPr lang="ru-RU" sz="2400"/>
              <a:t> по-разному</a:t>
            </a:r>
          </a:p>
        </p:txBody>
      </p:sp>
    </p:spTree>
    <p:extLst>
      <p:ext uri="{BB962C8B-B14F-4D97-AF65-F5344CB8AC3E}">
        <p14:creationId xmlns:p14="http://schemas.microsoft.com/office/powerpoint/2010/main" val="1228015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такое </a:t>
            </a:r>
            <a:r>
              <a:rPr lang="en-US"/>
              <a:t>LIANA </a:t>
            </a:r>
            <a:r>
              <a:rPr lang="ru-RU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LIANA  </a:t>
            </a:r>
            <a:r>
              <a:rPr lang="en-US" sz="2400"/>
              <a:t>- </a:t>
            </a:r>
            <a:r>
              <a:rPr lang="ru-RU" sz="2400"/>
              <a:t>это мета-фреймворк, а не один метод</a:t>
            </a:r>
            <a:endParaRPr lang="en-US" sz="2400"/>
          </a:p>
          <a:p>
            <a:pPr marL="0" indent="0">
              <a:buNone/>
            </a:pPr>
            <a:endParaRPr lang="ru-RU" sz="2400"/>
          </a:p>
          <a:p>
            <a:r>
              <a:rPr lang="ru-RU" sz="2400"/>
              <a:t>Реализует и объединяет несколько CCC-алгоритмов</a:t>
            </a:r>
          </a:p>
          <a:p>
            <a:r>
              <a:rPr lang="ru-RU" sz="2400"/>
              <a:t>Использует единый интерфейс и общую базу </a:t>
            </a:r>
            <a:r>
              <a:rPr lang="en-US" sz="2400"/>
              <a:t>ligand-receptor</a:t>
            </a:r>
            <a:r>
              <a:rPr lang="ru-RU" sz="2400"/>
              <a:t> пар</a:t>
            </a:r>
          </a:p>
          <a:p>
            <a:r>
              <a:rPr lang="ru-RU" sz="2400"/>
              <a:t>Позволяет сравнивать методы на одних и тех же данных</a:t>
            </a:r>
          </a:p>
          <a:p>
            <a:r>
              <a:rPr lang="ru-RU" sz="2400"/>
              <a:t>Реализован для single-cell RNA-seq данных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1D0C04C-7D12-4A61-9B71-25C8B78D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650" y="166688"/>
            <a:ext cx="26574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43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Методы </a:t>
            </a:r>
            <a:r>
              <a:rPr lang="en-US"/>
              <a:t>LIANA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Общая идея всех методов</a:t>
            </a:r>
            <a:r>
              <a:rPr lang="en-US" sz="2400"/>
              <a:t>:</a:t>
            </a:r>
            <a:endParaRPr lang="ru-RU" sz="2400"/>
          </a:p>
          <a:p>
            <a:pPr marL="0" indent="0">
              <a:buNone/>
            </a:pPr>
            <a:endParaRPr lang="ru-RU" sz="2400"/>
          </a:p>
          <a:p>
            <a:r>
              <a:rPr lang="ru-RU" sz="2400"/>
              <a:t>Межклеточное взаимодействие определяется экспрессией лиганд</a:t>
            </a:r>
            <a:r>
              <a:rPr lang="en-US" sz="2400"/>
              <a:t>-</a:t>
            </a:r>
            <a:r>
              <a:rPr lang="ru-RU" sz="2400"/>
              <a:t>рецепторных пар</a:t>
            </a:r>
          </a:p>
          <a:p>
            <a:r>
              <a:rPr lang="ru-RU" sz="2400"/>
              <a:t>Клетки агрегируются в группы (кластеры / типы клеток)</a:t>
            </a:r>
          </a:p>
          <a:p>
            <a:r>
              <a:rPr lang="ru-RU" sz="2400"/>
              <a:t>Для каждой пары групп (i </a:t>
            </a:r>
            <a:r>
              <a:rPr lang="en-US" sz="2400"/>
              <a:t>-&gt;</a:t>
            </a:r>
            <a:r>
              <a:rPr lang="ru-RU" sz="2400"/>
              <a:t> j) и LR-пары k вычисляется:</a:t>
            </a:r>
            <a:endParaRPr lang="en-US" sz="2400"/>
          </a:p>
          <a:p>
            <a:pPr marL="0" indent="0">
              <a:buNone/>
            </a:pPr>
            <a:endParaRPr lang="ru-RU" sz="2400"/>
          </a:p>
          <a:p>
            <a:pPr lvl="1"/>
            <a:r>
              <a:rPr lang="ru-RU" sz="2000"/>
              <a:t>Magnitude - сила взаимодействия</a:t>
            </a:r>
          </a:p>
          <a:p>
            <a:pPr lvl="1"/>
            <a:r>
              <a:rPr lang="ru-RU" sz="2000"/>
              <a:t>Specificity - специфичность (статистическая значимость)</a:t>
            </a:r>
          </a:p>
        </p:txBody>
      </p:sp>
    </p:spTree>
    <p:extLst>
      <p:ext uri="{BB962C8B-B14F-4D97-AF65-F5344CB8AC3E}">
        <p14:creationId xmlns:p14="http://schemas.microsoft.com/office/powerpoint/2010/main" val="3975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Методы </a:t>
            </a:r>
            <a:r>
              <a:rPr lang="en-US"/>
              <a:t>LIANA</a:t>
            </a:r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D17B23-5838-4B18-9E5C-BA320B2AC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200" b="1">
                    <a:solidFill>
                      <a:schemeClr val="tx1"/>
                    </a:solidFill>
                  </a:rPr>
                  <a:t>- CellPhoneDB:</a:t>
                </a:r>
              </a:p>
              <a:p>
                <a:pPr marL="0" indent="0">
                  <a:buNone/>
                </a:pPr>
                <a:endParaRPr lang="en-US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sSubSup>
                        <m:sSubSupPr>
                          <m:ctrlPr>
                            <a:rPr lang="ru-RU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ru-RU" sz="22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22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ean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22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p>
                      </m:sSubSup>
                      <m:r>
                        <a:rPr lang="ru-RU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2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ru-RU" sz="22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ru-RU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200" b="1">
                    <a:solidFill>
                      <a:schemeClr val="tx1"/>
                    </a:solidFill>
                  </a:rPr>
                  <a:t>- Geometric mean:</a:t>
                </a:r>
              </a:p>
              <a:p>
                <a:pPr marL="0" indent="0">
                  <a:buNone/>
                </a:pPr>
                <a:endParaRPr lang="en-US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  <m:sSubSup>
                      <m:sSubSupPr>
                        <m:ctrlPr>
                          <a:rPr lang="ru-RU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u-RU" sz="22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ru-RU" sz="22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ean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22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p>
                    </m:sSubSup>
                    <m:r>
                      <a:rPr lang="ru-RU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sz="2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ru-RU" sz="2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22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u-RU" sz="220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sz="220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sub>
                        </m:sSub>
                        <m: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2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u-RU" sz="220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sub>
                        </m:sSub>
                      </m:e>
                    </m:rad>
                  </m:oMath>
                </a14:m>
                <a:endParaRPr lang="en-US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200" b="1">
                    <a:solidFill>
                      <a:schemeClr val="tx1"/>
                    </a:solidFill>
                  </a:rPr>
                  <a:t>- CellChat:</a:t>
                </a:r>
              </a:p>
              <a:p>
                <a:pPr marL="0" indent="0">
                  <a:buNone/>
                </a:pPr>
                <a:endParaRPr lang="en-US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sSubSup>
                        <m:sSubSupPr>
                          <m:ctrlPr>
                            <a:rPr lang="ru-RU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ru-RU" sz="22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prob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22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p>
                      </m:sSubSup>
                      <m:r>
                        <a:rPr lang="ru-RU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2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2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sSub>
                            <m:sSubPr>
                              <m:ctrlPr>
                                <a:rPr lang="ru-RU" sz="2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2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ru-RU" sz="22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ru-RU" sz="200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D17B23-5838-4B18-9E5C-BA320B2AC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6DB41A-CFE2-48F9-B5DE-E236B8918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75575"/>
            <a:ext cx="5617052" cy="42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0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Пермутационный тест и </a:t>
            </a:r>
            <a:r>
              <a:rPr lang="en-US"/>
              <a:t>p-value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/>
              <a:t>Формально проверяется следующая гипотеза</a:t>
            </a:r>
            <a:r>
              <a:rPr lang="en-US" sz="2000"/>
              <a:t>:</a:t>
            </a:r>
          </a:p>
          <a:p>
            <a:pPr marL="0" indent="0">
              <a:buNone/>
            </a:pPr>
            <a:endParaRPr lang="ru-RU" sz="2000"/>
          </a:p>
          <a:p>
            <a:pPr marL="0" indent="0">
              <a:buNone/>
            </a:pPr>
            <a:r>
              <a:rPr lang="en-US" sz="2000" i="1">
                <a:latin typeface="+mj-lt"/>
              </a:rPr>
              <a:t>“</a:t>
            </a:r>
            <a:r>
              <a:rPr lang="ru-RU" sz="2000" i="1">
                <a:latin typeface="+mj-lt"/>
              </a:rPr>
              <a:t>Наблюдаемая сила взаимодействия между группами </a:t>
            </a:r>
            <a:r>
              <a:rPr lang="en-US" sz="2000" i="1">
                <a:latin typeface="+mj-lt"/>
              </a:rPr>
              <a:t>i </a:t>
            </a:r>
            <a:r>
              <a:rPr lang="ru-RU" sz="2000" i="1">
                <a:latin typeface="+mj-lt"/>
              </a:rPr>
              <a:t>и </a:t>
            </a:r>
            <a:r>
              <a:rPr lang="en-US" sz="2000" i="1">
                <a:latin typeface="+mj-lt"/>
              </a:rPr>
              <a:t>j</a:t>
            </a:r>
            <a:r>
              <a:rPr lang="ru-RU" sz="2000" i="1">
                <a:latin typeface="+mj-lt"/>
              </a:rPr>
              <a:t> не отличается от случайной, если перемешать принадлежность клеток к группам</a:t>
            </a:r>
            <a:r>
              <a:rPr lang="en-US" sz="2000" i="1">
                <a:latin typeface="+mj-lt"/>
              </a:rPr>
              <a:t>” </a:t>
            </a:r>
          </a:p>
          <a:p>
            <a:pPr marL="0" indent="0">
              <a:buNone/>
            </a:pPr>
            <a:endParaRPr lang="en-US" sz="2000" i="1">
              <a:latin typeface="+mj-lt"/>
            </a:endParaRPr>
          </a:p>
          <a:p>
            <a:pPr marL="0" indent="0">
              <a:buNone/>
            </a:pPr>
            <a:r>
              <a:rPr lang="ru-RU" sz="2000"/>
              <a:t>Таким образом</a:t>
            </a:r>
            <a:r>
              <a:rPr lang="en-US" sz="2000"/>
              <a:t>:</a:t>
            </a:r>
            <a:endParaRPr lang="ru-RU" sz="2000"/>
          </a:p>
          <a:p>
            <a:pPr marL="0" indent="0">
              <a:buNone/>
            </a:pPr>
            <a:endParaRPr lang="ru-RU" sz="2000"/>
          </a:p>
          <a:p>
            <a:r>
              <a:rPr lang="en-US" sz="2000">
                <a:latin typeface="+mj-lt"/>
              </a:rPr>
              <a:t>Magnitude</a:t>
            </a:r>
            <a:r>
              <a:rPr lang="en-US" sz="2000"/>
              <a:t> </a:t>
            </a:r>
            <a:r>
              <a:rPr lang="ru-RU" sz="2000"/>
              <a:t>говорит насколько сильное взаимодействие </a:t>
            </a:r>
          </a:p>
          <a:p>
            <a:endParaRPr lang="ru-RU" sz="2000"/>
          </a:p>
          <a:p>
            <a:r>
              <a:rPr lang="en-US" sz="2000">
                <a:latin typeface="+mj-lt"/>
              </a:rPr>
              <a:t>p-value</a:t>
            </a:r>
            <a:r>
              <a:rPr lang="en-US" sz="2000"/>
              <a:t> </a:t>
            </a:r>
            <a:r>
              <a:rPr lang="ru-RU" sz="2000"/>
              <a:t>– насколько оно специфично именно для данных клеточных типов</a:t>
            </a:r>
            <a:endParaRPr lang="en-US" sz="2000"/>
          </a:p>
          <a:p>
            <a:pPr marL="0" indent="0">
              <a:buNone/>
            </a:pPr>
            <a:endParaRPr lang="ru-RU" sz="2000" i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426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T-ALL </a:t>
            </a:r>
            <a:r>
              <a:rPr lang="ru-RU"/>
              <a:t>и </a:t>
            </a:r>
            <a:r>
              <a:rPr lang="en-US"/>
              <a:t>cell-to-cell communication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/>
              <a:t>T-acute lymphoblastic leukemia (T-ALL)</a:t>
            </a:r>
            <a:r>
              <a:rPr lang="en-US" sz="2000"/>
              <a:t>:</a:t>
            </a:r>
          </a:p>
          <a:p>
            <a:pPr marL="0" indent="0">
              <a:buNone/>
            </a:pPr>
            <a:endParaRPr lang="ru-RU" sz="2000"/>
          </a:p>
          <a:p>
            <a:pPr marL="0" indent="0">
              <a:buNone/>
            </a:pPr>
            <a:r>
              <a:rPr lang="ru-RU" sz="2000"/>
              <a:t> • Агрессивное злокачественное заболевание Т-клеточного происхождения</a:t>
            </a:r>
          </a:p>
          <a:p>
            <a:pPr marL="0" indent="0">
              <a:buNone/>
            </a:pPr>
            <a:r>
              <a:rPr lang="ru-RU" sz="2000"/>
              <a:t> • Характеризуется высокой клеточной гетерогенностью</a:t>
            </a:r>
          </a:p>
          <a:p>
            <a:pPr marL="0" indent="0">
              <a:buNone/>
            </a:pPr>
            <a:r>
              <a:rPr lang="ru-RU" sz="2000"/>
              <a:t> • Опухолевые клетки активно взаимодействуют с иммунным микроокружением</a:t>
            </a:r>
          </a:p>
          <a:p>
            <a:pPr marL="0" indent="0">
              <a:buNone/>
            </a:pPr>
            <a:endParaRPr lang="ru-RU" sz="2000"/>
          </a:p>
          <a:p>
            <a:pPr marL="0" indent="0">
              <a:buNone/>
            </a:pPr>
            <a:r>
              <a:rPr lang="ru-RU" sz="2000"/>
              <a:t>Этот кейс интересен для анализа коммуникаций, т.к. есть четкое разделение на:</a:t>
            </a:r>
          </a:p>
          <a:p>
            <a:pPr marL="0" indent="0">
              <a:buNone/>
            </a:pPr>
            <a:endParaRPr lang="ru-RU" sz="2000"/>
          </a:p>
          <a:p>
            <a:pPr marL="457200" lvl="1" indent="0">
              <a:buNone/>
            </a:pPr>
            <a:r>
              <a:rPr lang="ru-RU" sz="1600"/>
              <a:t> </a:t>
            </a:r>
            <a:r>
              <a:rPr lang="ru-RU" sz="1800"/>
              <a:t>• опухолевые T-клетки</a:t>
            </a:r>
          </a:p>
          <a:p>
            <a:pPr marL="457200" lvl="1" indent="0">
              <a:buNone/>
            </a:pPr>
            <a:r>
              <a:rPr lang="ru-RU" sz="1800"/>
              <a:t> • нормальные T-клеточные субпопуляции</a:t>
            </a:r>
          </a:p>
          <a:p>
            <a:pPr marL="457200" lvl="1" indent="0">
              <a:buNone/>
            </a:pPr>
            <a:r>
              <a:rPr lang="ru-RU" sz="1800"/>
              <a:t> • NK-клетки и B-клетки</a:t>
            </a:r>
          </a:p>
        </p:txBody>
      </p:sp>
    </p:spTree>
    <p:extLst>
      <p:ext uri="{BB962C8B-B14F-4D97-AF65-F5344CB8AC3E}">
        <p14:creationId xmlns:p14="http://schemas.microsoft.com/office/powerpoint/2010/main" val="255255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/>
              <a:t>Данные и дизайн анализа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/>
              <a:t>Dataset: T cell leukemia (h5ad </a:t>
            </a:r>
            <a:r>
              <a:rPr lang="ru-RU" sz="2000"/>
              <a:t>из </a:t>
            </a:r>
            <a:r>
              <a:rPr lang="en-US" sz="2000"/>
              <a:t>cellxgene)</a:t>
            </a:r>
          </a:p>
          <a:p>
            <a:pPr marL="0" indent="0">
              <a:buNone/>
            </a:pPr>
            <a:r>
              <a:rPr lang="ru-RU" sz="2000"/>
              <a:t>1 </a:t>
            </a:r>
            <a:r>
              <a:rPr lang="en-US" sz="2000"/>
              <a:t>sample: </a:t>
            </a:r>
            <a:r>
              <a:rPr lang="ru-RU" sz="2000"/>
              <a:t>снижение вычислительной нагрузки и числа сравнений</a:t>
            </a:r>
          </a:p>
          <a:p>
            <a:pPr marL="0" indent="0">
              <a:buNone/>
            </a:pPr>
            <a:r>
              <a:rPr lang="ru-RU" sz="2000"/>
              <a:t>Выбранный </a:t>
            </a:r>
            <a:r>
              <a:rPr lang="en-US" sz="2000"/>
              <a:t>sample: P021_D0, n = 16,753 </a:t>
            </a:r>
            <a:r>
              <a:rPr lang="ru-RU" sz="2000"/>
              <a:t>клеток</a:t>
            </a:r>
          </a:p>
          <a:p>
            <a:pPr marL="0" indent="0">
              <a:buNone/>
            </a:pPr>
            <a:endParaRPr lang="ru-RU" sz="2000"/>
          </a:p>
          <a:p>
            <a:pPr marL="0" indent="0">
              <a:buNone/>
            </a:pPr>
            <a:r>
              <a:rPr lang="en-US" sz="2000"/>
              <a:t>“</a:t>
            </a:r>
            <a:r>
              <a:rPr lang="ru-RU" sz="2000"/>
              <a:t>Грубая</a:t>
            </a:r>
            <a:r>
              <a:rPr lang="en-US" sz="2000"/>
              <a:t>”</a:t>
            </a:r>
            <a:r>
              <a:rPr lang="ru-RU" sz="2000"/>
              <a:t> аннотация для </a:t>
            </a:r>
            <a:r>
              <a:rPr lang="en-US" sz="2000"/>
              <a:t>CCC:</a:t>
            </a:r>
            <a:endParaRPr lang="ru-RU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 • Malignant_T (malignant cell): 13,641</a:t>
            </a:r>
          </a:p>
          <a:p>
            <a:pPr marL="0" indent="0">
              <a:buNone/>
            </a:pPr>
            <a:r>
              <a:rPr lang="en-US" sz="2000"/>
              <a:t> • T_non_malignant (T cell): 1,821</a:t>
            </a:r>
          </a:p>
          <a:p>
            <a:pPr marL="0" indent="0">
              <a:buNone/>
            </a:pPr>
            <a:r>
              <a:rPr lang="en-US" sz="2000"/>
              <a:t> • NK (natural killer cell): 678</a:t>
            </a:r>
          </a:p>
          <a:p>
            <a:pPr marL="0" indent="0">
              <a:buNone/>
            </a:pPr>
            <a:r>
              <a:rPr lang="en-US" sz="2000"/>
              <a:t> • B (B cell): 347</a:t>
            </a:r>
          </a:p>
          <a:p>
            <a:pPr marL="0" indent="0">
              <a:buNone/>
            </a:pPr>
            <a:r>
              <a:rPr lang="en-US" sz="2000"/>
              <a:t> • Other (</a:t>
            </a:r>
            <a:r>
              <a:rPr lang="ru-RU" sz="2000"/>
              <a:t>все остальное): 266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58586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Pipeline: </a:t>
            </a:r>
            <a:r>
              <a:rPr lang="ru-RU" sz="4400"/>
              <a:t>аннотация, </a:t>
            </a:r>
            <a:r>
              <a:rPr lang="en-US" sz="4400"/>
              <a:t>LR</a:t>
            </a:r>
            <a:r>
              <a:rPr lang="ru-RU" sz="4400"/>
              <a:t>, </a:t>
            </a:r>
            <a:r>
              <a:rPr lang="en-US" sz="4400"/>
              <a:t>CellPhoneDB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/>
              <a:t>QC </a:t>
            </a:r>
            <a:r>
              <a:rPr lang="ru-RU" sz="1800"/>
              <a:t>и подготовка генов</a:t>
            </a:r>
          </a:p>
          <a:p>
            <a:pPr marL="0" indent="0">
              <a:buNone/>
            </a:pPr>
            <a:r>
              <a:rPr lang="ru-RU" sz="1800"/>
              <a:t> • </a:t>
            </a:r>
            <a:r>
              <a:rPr lang="en-US" sz="1800"/>
              <a:t>QC-</a:t>
            </a:r>
            <a:r>
              <a:rPr lang="ru-RU" sz="1800"/>
              <a:t>фильтр: </a:t>
            </a:r>
            <a:r>
              <a:rPr lang="en-US" sz="1800"/>
              <a:t>n_genes_by_counts ≥ 200, pct_counts_mt ≤ 25 -&gt; </a:t>
            </a:r>
            <a:r>
              <a:rPr lang="ru-RU" sz="1800"/>
              <a:t>в этом </a:t>
            </a:r>
            <a:r>
              <a:rPr lang="en-US" sz="1800"/>
              <a:t>sample </a:t>
            </a:r>
            <a:r>
              <a:rPr lang="ru-RU" sz="1800"/>
              <a:t>фильтр ничего не удалил (16,487 клеток)</a:t>
            </a:r>
          </a:p>
          <a:p>
            <a:pPr marL="0" indent="0">
              <a:buNone/>
            </a:pPr>
            <a:r>
              <a:rPr lang="ru-RU" sz="1800"/>
              <a:t> • Приведение </a:t>
            </a:r>
            <a:r>
              <a:rPr lang="en-US" sz="1800"/>
              <a:t>var_names </a:t>
            </a:r>
            <a:r>
              <a:rPr lang="ru-RU" sz="1800"/>
              <a:t>к символам генов (</a:t>
            </a:r>
            <a:r>
              <a:rPr lang="en-US" sz="1800"/>
              <a:t>feature_name), </a:t>
            </a:r>
            <a:r>
              <a:rPr lang="ru-RU" sz="1800"/>
              <a:t>проверка ключевых маркеров: </a:t>
            </a:r>
            <a:r>
              <a:rPr lang="en-US" sz="1800"/>
              <a:t>CD274 (PD-L1), PDCD1 (PD-1), CTLA4, TRAC, MS4A1, NKG7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ru-RU" sz="1800"/>
              <a:t>Лиганд–рецептор</a:t>
            </a:r>
          </a:p>
          <a:p>
            <a:pPr marL="0" indent="0">
              <a:buNone/>
            </a:pPr>
            <a:r>
              <a:rPr lang="ru-RU" sz="1800"/>
              <a:t> • Фиксирую базу: </a:t>
            </a:r>
            <a:r>
              <a:rPr lang="en-US" sz="1800"/>
              <a:t>CellPhoneDB (</a:t>
            </a:r>
            <a:r>
              <a:rPr lang="ru-RU" sz="1800"/>
              <a:t>через </a:t>
            </a:r>
            <a:r>
              <a:rPr lang="en-US" sz="1800"/>
              <a:t>resource_name="cellphonedb")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ru-RU" sz="1800"/>
              <a:t>Метод </a:t>
            </a:r>
            <a:r>
              <a:rPr lang="en-US" sz="1800"/>
              <a:t>CellPhoneDBv2 (LIANA)</a:t>
            </a:r>
          </a:p>
          <a:p>
            <a:pPr marL="0" indent="0">
              <a:buNone/>
            </a:pPr>
            <a:r>
              <a:rPr lang="en-US" sz="1800"/>
              <a:t> • </a:t>
            </a:r>
            <a:r>
              <a:rPr lang="ru-RU" sz="1800"/>
              <a:t>Статистика “сила” взаимодействия: </a:t>
            </a:r>
            <a:r>
              <a:rPr lang="en-US" sz="1800"/>
              <a:t>LRmeans = (L̄ + R̄)/2</a:t>
            </a:r>
          </a:p>
          <a:p>
            <a:pPr marL="0" indent="0">
              <a:buNone/>
            </a:pPr>
            <a:r>
              <a:rPr lang="en-US" sz="1800"/>
              <a:t> • </a:t>
            </a:r>
            <a:r>
              <a:rPr lang="ru-RU" sz="1800"/>
              <a:t>Значимость: пермутационный </a:t>
            </a:r>
            <a:r>
              <a:rPr lang="en-US" sz="1800"/>
              <a:t>p-value (n_perms = 500)</a:t>
            </a:r>
          </a:p>
          <a:p>
            <a:pPr marL="0" indent="0">
              <a:buNone/>
            </a:pPr>
            <a:r>
              <a:rPr lang="en-US" sz="1800"/>
              <a:t> • </a:t>
            </a:r>
            <a:r>
              <a:rPr lang="ru-RU" sz="1800"/>
              <a:t>Фильтрация: </a:t>
            </a:r>
            <a:r>
              <a:rPr lang="en-US" sz="1800"/>
              <a:t>expr_prop ≥ 0.1, p ≤ 0.01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ru-RU" sz="1800"/>
              <a:t>Результат</a:t>
            </a:r>
          </a:p>
          <a:p>
            <a:pPr marL="0" indent="0">
              <a:buNone/>
            </a:pPr>
            <a:r>
              <a:rPr lang="ru-RU" sz="1800"/>
              <a:t> • Всего </a:t>
            </a:r>
            <a:r>
              <a:rPr lang="en-US" sz="1800"/>
              <a:t>LR-</a:t>
            </a:r>
            <a:r>
              <a:rPr lang="ru-RU" sz="1800"/>
              <a:t>пар: 296, значимых: 196</a:t>
            </a:r>
          </a:p>
          <a:p>
            <a:pPr marL="0" indent="0">
              <a:buNone/>
            </a:pPr>
            <a:r>
              <a:rPr lang="ru-RU" sz="1800"/>
              <a:t> • </a:t>
            </a:r>
            <a:r>
              <a:rPr lang="en-US" sz="1800"/>
              <a:t>Edge-level </a:t>
            </a:r>
            <a:r>
              <a:rPr lang="ru-RU" sz="1800"/>
              <a:t>суммарная сила (</a:t>
            </a:r>
            <a:r>
              <a:rPr lang="en-US" sz="1800"/>
              <a:t>sum LRmeans): </a:t>
            </a:r>
            <a:r>
              <a:rPr lang="ru-RU" sz="1800"/>
              <a:t>лидируют </a:t>
            </a:r>
            <a:r>
              <a:rPr lang="en-US" sz="1800"/>
              <a:t>NK↔NK, Malignant_T→NK, T_non_malignant→NK, B→NK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86448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6" y="70927"/>
            <a:ext cx="10515600" cy="1325563"/>
          </a:xfrm>
        </p:spPr>
        <p:txBody>
          <a:bodyPr/>
          <a:lstStyle/>
          <a:p>
            <a:r>
              <a:rPr lang="ru-RU" sz="4400"/>
              <a:t>Результаты </a:t>
            </a:r>
            <a:r>
              <a:rPr lang="en-US" sz="4400"/>
              <a:t>CellPhoneDB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96" y="1554348"/>
            <a:ext cx="67711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/>
              <a:t> • Максимальная суммарная сигнализация связана с NK-клетками</a:t>
            </a:r>
          </a:p>
          <a:p>
            <a:pPr marL="0" indent="0">
              <a:buNone/>
            </a:pPr>
            <a:r>
              <a:rPr lang="ru-RU" sz="1800"/>
              <a:t> • Сильные ребра:</a:t>
            </a:r>
          </a:p>
          <a:p>
            <a:pPr marL="457200" lvl="1" indent="0">
              <a:buNone/>
            </a:pPr>
            <a:r>
              <a:rPr lang="ru-RU" sz="1400"/>
              <a:t> • NK → NK</a:t>
            </a:r>
          </a:p>
          <a:p>
            <a:pPr marL="457200" lvl="1" indent="0">
              <a:buNone/>
            </a:pPr>
            <a:r>
              <a:rPr lang="ru-RU" sz="1400"/>
              <a:t> • Malignant_T → NK</a:t>
            </a:r>
          </a:p>
          <a:p>
            <a:pPr marL="457200" lvl="1" indent="0">
              <a:buNone/>
            </a:pPr>
            <a:r>
              <a:rPr lang="ru-RU" sz="1400"/>
              <a:t> • T_non_malignant → NK</a:t>
            </a:r>
          </a:p>
          <a:p>
            <a:pPr marL="457200" lvl="1" indent="0">
              <a:buNone/>
            </a:pPr>
            <a:r>
              <a:rPr lang="ru-RU" sz="1400"/>
              <a:t> • B → NK</a:t>
            </a:r>
          </a:p>
          <a:p>
            <a:pPr marL="0" indent="0">
              <a:buNone/>
            </a:pPr>
            <a:r>
              <a:rPr lang="ru-RU" sz="1800"/>
              <a:t> • Самые слабые суммарные сигналы - взаимодействия, направленные на Malignant_T</a:t>
            </a:r>
          </a:p>
          <a:p>
            <a:pPr marL="0" indent="0">
              <a:buNone/>
            </a:pPr>
            <a:endParaRPr lang="ru-RU" sz="1800"/>
          </a:p>
          <a:p>
            <a:pPr marL="0" indent="0">
              <a:buNone/>
            </a:pPr>
            <a:r>
              <a:rPr lang="ru-RU" sz="1800"/>
              <a:t>• CellPhoneDB выделяет NK-клетки как центральный узел коммуникаций</a:t>
            </a:r>
          </a:p>
          <a:p>
            <a:pPr marL="0" indent="0">
              <a:buNone/>
            </a:pPr>
            <a:r>
              <a:rPr lang="ru-RU" sz="1800"/>
              <a:t> • Возможно это отражает высокую экспрессию универсальных иммунных LR (HLA–KLR, MIF–CD74 и др.)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70036C-EAEE-4D22-B64D-5388AD980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425" y="3603139"/>
            <a:ext cx="3980945" cy="325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5953B3A-759B-45BC-B8E4-2691A08EE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177" y="348277"/>
            <a:ext cx="4089442" cy="325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0475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6" y="70927"/>
            <a:ext cx="10515600" cy="1325563"/>
          </a:xfrm>
        </p:spPr>
        <p:txBody>
          <a:bodyPr/>
          <a:lstStyle/>
          <a:p>
            <a:r>
              <a:rPr lang="ru-RU" sz="4400"/>
              <a:t>Сравнение </a:t>
            </a:r>
            <a:r>
              <a:rPr lang="en-US" sz="4400"/>
              <a:t>geometric mean </a:t>
            </a:r>
            <a:r>
              <a:rPr lang="ru-RU" sz="4400"/>
              <a:t>и</a:t>
            </a:r>
            <a:r>
              <a:rPr lang="en-US" sz="4400"/>
              <a:t> CellChat</a:t>
            </a:r>
            <a:endParaRPr lang="ru-RU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1FE8315-FA9F-4949-8066-2E0E33BF5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933" y="1571625"/>
            <a:ext cx="47339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4EDB1F53-79FD-475B-A335-D76A5498CACF}"/>
              </a:ext>
            </a:extLst>
          </p:cNvPr>
          <p:cNvSpPr txBox="1">
            <a:spLocks/>
          </p:cNvSpPr>
          <p:nvPr/>
        </p:nvSpPr>
        <p:spPr>
          <a:xfrm>
            <a:off x="4273495" y="5461510"/>
            <a:ext cx="3645010" cy="1187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400"/>
              <a:t> - </a:t>
            </a:r>
            <a:r>
              <a:rPr lang="en-US" sz="1400"/>
              <a:t>log2FC-filtered: gmean = 112, cellchat = 30, intersection = 30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 </a:t>
            </a:r>
            <a:r>
              <a:rPr lang="ru-RU" sz="1400"/>
              <a:t>-</a:t>
            </a:r>
            <a:r>
              <a:rPr lang="en-US" sz="1400"/>
              <a:t> Spearman ρ = 0.893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/>
              <a:t> </a:t>
            </a:r>
            <a:r>
              <a:rPr lang="ru-RU" sz="1400"/>
              <a:t>-</a:t>
            </a:r>
            <a:r>
              <a:rPr lang="en-US" sz="1400"/>
              <a:t> Top15 overlap = 14/15</a:t>
            </a:r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3327847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</a:t>
            </a:r>
            <a:r>
              <a:rPr lang="ru-RU" sz="4400"/>
              <a:t>грегированные “</a:t>
            </a:r>
            <a:r>
              <a:rPr lang="en-US" sz="4400"/>
              <a:t>edges” </a:t>
            </a:r>
            <a:r>
              <a:rPr lang="ru-RU" sz="4400"/>
              <a:t>по </a:t>
            </a:r>
            <a:r>
              <a:rPr lang="en-US" sz="4400"/>
              <a:t>Geometric mean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7B23-5838-4B18-9E5C-BA320B2AC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5172" y="2286801"/>
            <a:ext cx="46641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/>
              <a:t>Топ по </a:t>
            </a:r>
            <a:r>
              <a:rPr lang="en-US" sz="2000"/>
              <a:t>gmean:</a:t>
            </a:r>
          </a:p>
          <a:p>
            <a:pPr marL="0" indent="0">
              <a:buNone/>
            </a:pPr>
            <a:r>
              <a:rPr lang="en-US" sz="2000"/>
              <a:t> 1. NK </a:t>
            </a:r>
            <a:r>
              <a:rPr lang="ru-RU" sz="2000"/>
              <a:t>-</a:t>
            </a:r>
            <a:r>
              <a:rPr lang="en-US" sz="2000"/>
              <a:t>&gt; NK (sum ≈ 11.0; n=19)</a:t>
            </a:r>
          </a:p>
          <a:p>
            <a:pPr marL="0" indent="0">
              <a:buNone/>
            </a:pPr>
            <a:r>
              <a:rPr lang="en-US" sz="2000"/>
              <a:t> 2. T_non_malignant </a:t>
            </a:r>
            <a:r>
              <a:rPr lang="ru-RU" sz="2000"/>
              <a:t>-</a:t>
            </a:r>
            <a:r>
              <a:rPr lang="en-US" sz="2000"/>
              <a:t>&gt; NK (sum ≈ 7.77; n=13)</a:t>
            </a:r>
          </a:p>
          <a:p>
            <a:pPr marL="0" indent="0">
              <a:buNone/>
            </a:pPr>
            <a:r>
              <a:rPr lang="en-US" sz="2000"/>
              <a:t> 3. Malignant_T </a:t>
            </a:r>
            <a:r>
              <a:rPr lang="ru-RU" sz="2000"/>
              <a:t>-</a:t>
            </a:r>
            <a:r>
              <a:rPr lang="en-US" sz="2000"/>
              <a:t>&gt; NK (sum ≈ 6.52; n=10)</a:t>
            </a:r>
          </a:p>
          <a:p>
            <a:pPr marL="0" indent="0">
              <a:buNone/>
            </a:pPr>
            <a:r>
              <a:rPr lang="en-US" sz="2000"/>
              <a:t> 4. Malignant_T </a:t>
            </a:r>
            <a:r>
              <a:rPr lang="ru-RU" sz="2000"/>
              <a:t>-</a:t>
            </a:r>
            <a:r>
              <a:rPr lang="en-US" sz="2000"/>
              <a:t>&gt; B (sum ≈ 5.35; n=3)</a:t>
            </a:r>
            <a:endParaRPr lang="ru-RU" sz="180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619523-8DCE-49A0-A3D8-32722A835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726" y="2160021"/>
            <a:ext cx="45339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891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</a:t>
            </a:r>
            <a:r>
              <a:rPr lang="ru-RU" sz="4400"/>
              <a:t>грегированные “</a:t>
            </a:r>
            <a:r>
              <a:rPr lang="en-US" sz="4400"/>
              <a:t>edges” </a:t>
            </a:r>
            <a:r>
              <a:rPr lang="ru-RU" sz="4400"/>
              <a:t>по </a:t>
            </a:r>
            <a:r>
              <a:rPr lang="en-US" sz="4400"/>
              <a:t>CellChat-like</a:t>
            </a:r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DF7809D-5959-47CA-9FF6-D0068058C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278" y="1841969"/>
            <a:ext cx="4955443" cy="395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25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Subclustering T_non_malignant: </a:t>
            </a:r>
            <a:r>
              <a:rPr lang="ru-RU" sz="4400"/>
              <a:t>проверка гетерогенности</a:t>
            </a:r>
            <a:endParaRPr lang="ru-RU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DF8B32E-55E3-4B8E-B49B-DEB39A11C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450" y="1871972"/>
            <a:ext cx="6753100" cy="484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504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86" y="25380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/>
              <a:t>Функциональные состояния нелейкозных Т-клеток на основе канонических маркеров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C67E9E8-E051-461C-A19A-CF1D3373F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7579"/>
            <a:ext cx="12192000" cy="33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242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86" y="25380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/>
              <a:t>Подтипы нелейкозных Т-клеток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43941FB-4FC7-4E4F-9C2C-2300306CC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1893198"/>
            <a:ext cx="67627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98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86" y="25380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/>
              <a:t>Сила межклеточных взаимодействий после разделения Т-клеток на группы (</a:t>
            </a:r>
            <a:r>
              <a:rPr lang="en-US" sz="3600"/>
              <a:t>Geometric mean</a:t>
            </a:r>
            <a:r>
              <a:rPr lang="ru-RU" sz="3600"/>
              <a:t>)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801233D-04B4-42DC-88FF-F7FFA1C86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318" y="2188970"/>
            <a:ext cx="38902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/>
              <a:t>После </a:t>
            </a:r>
            <a:r>
              <a:rPr lang="en-US" sz="1800"/>
              <a:t>refined-</a:t>
            </a:r>
            <a:r>
              <a:rPr lang="ru-RU" sz="1800"/>
              <a:t>аннотации:</a:t>
            </a:r>
          </a:p>
          <a:p>
            <a:pPr marL="0" indent="0">
              <a:buNone/>
            </a:pPr>
            <a:r>
              <a:rPr lang="ru-RU" sz="1800"/>
              <a:t> • Взаимодействия “</a:t>
            </a:r>
            <a:r>
              <a:rPr lang="en-US" sz="1800"/>
              <a:t>T</a:t>
            </a:r>
            <a:r>
              <a:rPr lang="ru-RU" sz="1800"/>
              <a:t> -</a:t>
            </a:r>
            <a:r>
              <a:rPr lang="en-US" sz="1800"/>
              <a:t>&gt; …” </a:t>
            </a:r>
            <a:r>
              <a:rPr lang="ru-RU" sz="1800"/>
              <a:t>распались на подтипы (</a:t>
            </a:r>
            <a:r>
              <a:rPr lang="en-US" sz="1800"/>
              <a:t>CD4 naive/activated, CD8 cytotoxic/memory, exhausted, resting)</a:t>
            </a:r>
          </a:p>
          <a:p>
            <a:pPr marL="0" indent="0">
              <a:buNone/>
            </a:pPr>
            <a:r>
              <a:rPr lang="en-US" sz="1800"/>
              <a:t> • </a:t>
            </a:r>
            <a:r>
              <a:rPr lang="ru-RU" sz="1800"/>
              <a:t>Появились дифференциальные паттерны: кто именно общается с </a:t>
            </a:r>
            <a:r>
              <a:rPr lang="en-US" sz="1800"/>
              <a:t>B/NK/</a:t>
            </a:r>
            <a:r>
              <a:rPr lang="ru-RU" sz="1800"/>
              <a:t>лейкозными клетками</a:t>
            </a:r>
          </a:p>
          <a:p>
            <a:pPr marL="0" indent="0">
              <a:buNone/>
            </a:pPr>
            <a:r>
              <a:rPr lang="ru-RU" sz="1800"/>
              <a:t>• выраженные оси взаимодействий: </a:t>
            </a:r>
            <a:r>
              <a:rPr lang="en-US" sz="1800"/>
              <a:t>T_CD4_Naive &lt;-&gt; NK / B, Malignant_T -&gt; B, NK -&gt; NK</a:t>
            </a:r>
            <a:endParaRPr lang="ru-RU" sz="180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116761F-96CB-4297-802E-E9B982690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72" y="1571538"/>
            <a:ext cx="6146632" cy="528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692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86" y="25380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/>
              <a:t>Geometric mean vs log2fc</a:t>
            </a:r>
            <a:endParaRPr lang="ru-RU" sz="360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801233D-04B4-42DC-88FF-F7FFA1C86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318" y="2188970"/>
            <a:ext cx="38902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/>
              <a:t>Между уровнем экспрессии и дифференциальной специфичностью существует положительная, но неполная корреляция 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D18907E-3674-4265-B48E-95BFEB297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517" y="2188970"/>
            <a:ext cx="46577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831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466B-6BCE-4680-99C9-9E9DA27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19" y="629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/>
              <a:t>Geometric mean vs cellchat</a:t>
            </a:r>
            <a:endParaRPr lang="ru-RU" sz="360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801233D-04B4-42DC-88FF-F7FFA1C86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318" y="2188970"/>
            <a:ext cx="38902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/>
              <a:t>Для log2FC-специфичных взаимодействий gmean и CellChat практически одинаково ранжируют LR-пары </a:t>
            </a:r>
            <a:r>
              <a:rPr lang="en-US" sz="1800"/>
              <a:t>-&gt;</a:t>
            </a:r>
            <a:r>
              <a:rPr lang="ru-RU" sz="1800"/>
              <a:t> результаты устойчивы к выбору метрики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AABE50A-E08C-4729-9994-753A8C92D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043" y="1818115"/>
            <a:ext cx="46577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8822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904</Words>
  <Application>Microsoft Office PowerPoint</Application>
  <PresentationFormat>Широкоэкранный</PresentationFormat>
  <Paragraphs>121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Тема Office</vt:lpstr>
      <vt:lpstr>Анализ межклеточных взаимодействий в liana-py</vt:lpstr>
      <vt:lpstr>Для чего нужен этот анализ?</vt:lpstr>
      <vt:lpstr>Что такое LIANA ?</vt:lpstr>
      <vt:lpstr>Методы LIANA</vt:lpstr>
      <vt:lpstr>Методы LIANA</vt:lpstr>
      <vt:lpstr>Пермутационный тест и p-value</vt:lpstr>
      <vt:lpstr>T-ALL и cell-to-cell communication</vt:lpstr>
      <vt:lpstr>Данные и дизайн анализа</vt:lpstr>
      <vt:lpstr>Pipeline: аннотация, LR, CellPhoneDB</vt:lpstr>
      <vt:lpstr>Результаты CellPhoneDB</vt:lpstr>
      <vt:lpstr>Сравнение geometric mean и CellChat</vt:lpstr>
      <vt:lpstr>Агрегированные “edges” по Geometric mean</vt:lpstr>
      <vt:lpstr>Агрегированные “edges” по CellChat-like</vt:lpstr>
      <vt:lpstr>Subclustering T_non_malignant: проверка гетерогенности</vt:lpstr>
      <vt:lpstr>Функциональные состояния нелейкозных Т-клеток на основе канонических маркеров</vt:lpstr>
      <vt:lpstr>Подтипы нелейкозных Т-клеток</vt:lpstr>
      <vt:lpstr>Сила межклеточных взаимодействий после разделения Т-клеток на группы (Geometric mean)</vt:lpstr>
      <vt:lpstr>Geometric mean vs log2fc</vt:lpstr>
      <vt:lpstr>Geometric mean vs cellchat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межклеточных взаимодействий в liana-py</dc:title>
  <dc:creator>Merab Vagabov</dc:creator>
  <cp:lastModifiedBy>Merab Vagabov</cp:lastModifiedBy>
  <cp:revision>26</cp:revision>
  <dcterms:created xsi:type="dcterms:W3CDTF">2026-01-29T09:47:27Z</dcterms:created>
  <dcterms:modified xsi:type="dcterms:W3CDTF">2026-01-29T12:08:36Z</dcterms:modified>
</cp:coreProperties>
</file>