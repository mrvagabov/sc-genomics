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9" r:id="rId11"/>
    <p:sldId id="274" r:id="rId12"/>
    <p:sldId id="266" r:id="rId13"/>
    <p:sldId id="267" r:id="rId14"/>
    <p:sldId id="268" r:id="rId15"/>
    <p:sldId id="273" r:id="rId16"/>
    <p:sldId id="275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BE4083-24D4-40B9-A833-E3C25AA9EA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4637470-374B-474D-911E-2DCB74C8E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4DDB6F-4BCC-449C-B54A-D32BE8CD4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755D78-51BF-4069-823A-7FA6153BE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61092E-2B11-4E0F-A5BB-BFD3FF49D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8463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4F37AF-CB4D-4E10-B811-F9B017636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BAEBDF-DDD7-4FA4-8658-1BD92CD95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627A5C-2B02-4F60-9A23-E695B74CC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8B49E22-0666-4CBD-8AE6-05DD1183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98DD37-ACF6-4B1B-BC94-7FBBBC48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411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36173D-0A0B-474D-A767-25C4DF44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0077B0-2BCF-4C6B-A981-25E8F9F9D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566874-765B-48F2-8AEB-21537C919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A69943-4788-455E-B8BE-8309EF7FB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21721B-714B-4FAF-9F3C-810E505A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439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B84D81-26BF-4FAE-84DF-E71073D94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BC9CAB-0459-4C04-8B48-0CEE33278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B3B729-F467-4D22-B776-0A3C97C3F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FDF1FE7-006E-466F-BFB5-788238560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EEC9C7-EA66-4874-8D51-06D69E208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2086C88-E2EB-45D8-9AFF-28A0D5834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667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4DD3AC-A551-48B9-A87C-C4E941A6C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F3D82E-51E2-4833-AE50-99BA76325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E3AB4CB-5708-47CB-9A3C-258220F632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770C900-EDC9-4F2C-B074-BDB22CEFD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89EBA53-7187-44F3-AAED-374EE108C4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F9D79A1-5230-4638-A2F6-7B4D978E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5B3BE09-5619-457E-8003-F646D0AE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58B6F92-4CAB-4A8C-A3AF-58A25E9D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2797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3BD148-7911-4AA1-B56B-044F1D836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588356E-4F33-4AD0-9115-2D316119A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3E0F220-E41F-4234-B22E-106DCA37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D8912F-2087-40EE-B4EF-C7E29E17B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639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A6F418F-97CD-4F45-B960-424A7EF55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7E6B3F9-F652-42B0-A6B4-C239AB63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9AF105-2705-4683-AB28-7120776B2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7668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7CA48B-A3DB-49CE-96BB-CCD350A02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3D3234-DDCD-4206-8022-CE17D8ED4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47E9053-50AF-4B04-9941-9F09B11627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42B9B2E-8690-4A75-9826-DBB153A7D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187993-69EB-4491-B636-F79FCDF45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4004E0-7B1F-4363-AF8E-413F6F0A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047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7D309E-4F59-4714-801E-300520EE3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A32DCD0-CBA5-4BF4-B5EE-A2B1E90048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E6115F-06CF-4E05-9F1B-BDD32B6A59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0ACF5CB-0BC4-4CEA-86DD-5B0286588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7166CFF-DDD6-42A8-9C31-20294BB18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A7F1B5A-6CF2-4546-AED6-49C13CC54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3825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A89F45-1A54-4B0A-B4F2-7EBC0641E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72F4F84-52F4-4661-8257-BDD3A5CC8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AC8FDB8-84A6-4076-9294-A70A06CDA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C1E258-52FE-4AE9-BF7D-1D010879B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E50819-81FF-47FF-A651-A34B60957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9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A60191-9F8D-487E-B8D4-18D359A840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62DA722-C122-4543-BE03-0DCF9B8B2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17C585-824E-4A6A-B192-59A6DC07C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B0A6DD-39FD-41BF-AE86-7A3F73802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0646E7-1465-4112-B607-8530DADFE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5488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4C2B3D-2046-4183-A9A5-C9F8A7C2D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FD954D-88C3-421A-9F7F-D24F4189B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F6CEFE-A7D9-4B5F-B892-DB5AE7EC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F90D31-A90F-4266-879F-879347F3BD9F}" type="datetimeFigureOut">
              <a:rPr lang="ru-RU" smtClean="0"/>
              <a:t>30.01.2026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314797-A991-4F90-96BE-95D24C069F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22E4A7-9AB4-4477-B8AD-C6B4DE80B3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E6140-70CA-4325-9814-F856DA76F8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2583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C7F26F-2AE9-4AFC-8703-F186C2BA4E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/>
              <a:t>Анализ межклеточных взаимодействий в liana-py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9301C1-66ED-4FD5-9E32-F5FD1CE624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04553"/>
            <a:ext cx="9144000" cy="1655762"/>
          </a:xfrm>
        </p:spPr>
        <p:txBody>
          <a:bodyPr>
            <a:normAutofit/>
          </a:bodyPr>
          <a:lstStyle/>
          <a:p>
            <a:r>
              <a:rPr lang="en-US"/>
              <a:t>Merab Vagabov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D889E7D0-39B9-4E1C-9EFC-608097D14C03}"/>
              </a:ext>
            </a:extLst>
          </p:cNvPr>
          <p:cNvSpPr txBox="1">
            <a:spLocks/>
          </p:cNvSpPr>
          <p:nvPr/>
        </p:nvSpPr>
        <p:spPr>
          <a:xfrm>
            <a:off x="1524000" y="6313433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791684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Для чего нужен этот анализ?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/>
              <a:t>Клетки взаимодействуют через лиганд-рецепторные пары</a:t>
            </a:r>
          </a:p>
          <a:p>
            <a:r>
              <a:rPr lang="ru-RU" sz="2400"/>
              <a:t>В </a:t>
            </a:r>
            <a:r>
              <a:rPr lang="en-US" sz="2400"/>
              <a:t>Single cell </a:t>
            </a:r>
            <a:r>
              <a:rPr lang="ru-RU" sz="2400"/>
              <a:t>RNA-seq мы наблюдаем только экспрессию генов, а не саму коммуникацию</a:t>
            </a:r>
          </a:p>
          <a:p>
            <a:r>
              <a:rPr lang="ru-RU" sz="2400"/>
              <a:t>Экспрессия лиганда и рецептора не равно функциональное взаимодействие</a:t>
            </a:r>
          </a:p>
          <a:p>
            <a:r>
              <a:rPr lang="en-US" sz="2400"/>
              <a:t>Cell-to-cell communication</a:t>
            </a:r>
            <a:r>
              <a:rPr lang="ru-RU" sz="2400"/>
              <a:t> - это задача статистического анализа, а не прямого измерения</a:t>
            </a:r>
          </a:p>
          <a:p>
            <a:r>
              <a:rPr lang="ru-RU" sz="2400"/>
              <a:t>Разные методы формализуют </a:t>
            </a:r>
            <a:r>
              <a:rPr lang="en-US" sz="2400"/>
              <a:t>“</a:t>
            </a:r>
            <a:r>
              <a:rPr lang="ru-RU" sz="2400"/>
              <a:t>силу взаимодействия</a:t>
            </a:r>
            <a:r>
              <a:rPr lang="en-US" sz="2400"/>
              <a:t>”</a:t>
            </a:r>
            <a:r>
              <a:rPr lang="ru-RU" sz="2400"/>
              <a:t> по-разному</a:t>
            </a:r>
          </a:p>
        </p:txBody>
      </p:sp>
    </p:spTree>
    <p:extLst>
      <p:ext uri="{BB962C8B-B14F-4D97-AF65-F5344CB8AC3E}">
        <p14:creationId xmlns:p14="http://schemas.microsoft.com/office/powerpoint/2010/main" val="1228015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Что такое </a:t>
            </a:r>
            <a:r>
              <a:rPr lang="en-US"/>
              <a:t>LIANA </a:t>
            </a:r>
            <a:r>
              <a:rPr lang="ru-RU"/>
              <a:t>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/>
              <a:t>LIANA  </a:t>
            </a:r>
            <a:r>
              <a:rPr lang="en-US" sz="2400"/>
              <a:t>- </a:t>
            </a:r>
            <a:r>
              <a:rPr lang="ru-RU" sz="2400"/>
              <a:t>это мета-фреймворк, а не один метод</a:t>
            </a:r>
            <a:endParaRPr lang="en-US" sz="2400"/>
          </a:p>
          <a:p>
            <a:pPr marL="0" indent="0">
              <a:buNone/>
            </a:pPr>
            <a:endParaRPr lang="ru-RU" sz="2400"/>
          </a:p>
          <a:p>
            <a:r>
              <a:rPr lang="ru-RU" sz="2400"/>
              <a:t>Реализует и объединяет несколько CCC-алгоритмов</a:t>
            </a:r>
          </a:p>
          <a:p>
            <a:r>
              <a:rPr lang="ru-RU" sz="2400"/>
              <a:t>Использует единый интерфейс и общую базу </a:t>
            </a:r>
            <a:r>
              <a:rPr lang="en-US" sz="2400"/>
              <a:t>ligand-receptor</a:t>
            </a:r>
            <a:r>
              <a:rPr lang="ru-RU" sz="2400"/>
              <a:t> пар</a:t>
            </a:r>
          </a:p>
          <a:p>
            <a:r>
              <a:rPr lang="ru-RU" sz="2400"/>
              <a:t>Позволяет сравнивать методы на одних и тех же данных</a:t>
            </a:r>
          </a:p>
          <a:p>
            <a:r>
              <a:rPr lang="ru-RU" sz="2400"/>
              <a:t>Реализован для single-cell RNA-seq данных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1D0C04C-7D12-4A61-9B71-25C8B78D1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9650" y="166688"/>
            <a:ext cx="2657475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4437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Методы </a:t>
            </a:r>
            <a:r>
              <a:rPr lang="en-US"/>
              <a:t>LIANA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/>
              <a:t>Общая идея всех методов</a:t>
            </a:r>
            <a:r>
              <a:rPr lang="en-US" sz="2400"/>
              <a:t>:</a:t>
            </a:r>
            <a:endParaRPr lang="ru-RU" sz="2400"/>
          </a:p>
          <a:p>
            <a:pPr marL="0" indent="0">
              <a:buNone/>
            </a:pPr>
            <a:endParaRPr lang="ru-RU" sz="2400"/>
          </a:p>
          <a:p>
            <a:r>
              <a:rPr lang="ru-RU" sz="2400"/>
              <a:t>Межклеточное взаимодействие определяется экспрессией лиганд</a:t>
            </a:r>
            <a:r>
              <a:rPr lang="en-US" sz="2400"/>
              <a:t>-</a:t>
            </a:r>
            <a:r>
              <a:rPr lang="ru-RU" sz="2400"/>
              <a:t>рецепторных пар</a:t>
            </a:r>
          </a:p>
          <a:p>
            <a:r>
              <a:rPr lang="ru-RU" sz="2400"/>
              <a:t>Клетки агрегируются в группы (кластеры / типы клеток)</a:t>
            </a:r>
          </a:p>
          <a:p>
            <a:r>
              <a:rPr lang="ru-RU" sz="2400"/>
              <a:t>Для каждой пары групп (i </a:t>
            </a:r>
            <a:r>
              <a:rPr lang="en-US" sz="2400"/>
              <a:t>-&gt;</a:t>
            </a:r>
            <a:r>
              <a:rPr lang="ru-RU" sz="2400"/>
              <a:t> j) и LR-пары k вычисляется:</a:t>
            </a:r>
            <a:endParaRPr lang="en-US" sz="2400"/>
          </a:p>
          <a:p>
            <a:pPr marL="0" indent="0">
              <a:buNone/>
            </a:pPr>
            <a:endParaRPr lang="ru-RU" sz="2400"/>
          </a:p>
          <a:p>
            <a:pPr lvl="1"/>
            <a:r>
              <a:rPr lang="ru-RU" sz="2000"/>
              <a:t>Magnitude - сила взаимодействия</a:t>
            </a:r>
          </a:p>
          <a:p>
            <a:pPr lvl="1"/>
            <a:r>
              <a:rPr lang="ru-RU" sz="2000"/>
              <a:t>Specificity - специфичность (статистическая значимость)</a:t>
            </a:r>
          </a:p>
        </p:txBody>
      </p:sp>
    </p:spTree>
    <p:extLst>
      <p:ext uri="{BB962C8B-B14F-4D97-AF65-F5344CB8AC3E}">
        <p14:creationId xmlns:p14="http://schemas.microsoft.com/office/powerpoint/2010/main" val="39759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Методы </a:t>
            </a:r>
            <a:r>
              <a:rPr lang="en-US"/>
              <a:t>LIANA</a:t>
            </a:r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6DB41A-CFE2-48F9-B5DE-E236B8918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0793" y="1690688"/>
            <a:ext cx="5617052" cy="4266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9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Пермутационный тест и </a:t>
            </a:r>
            <a:r>
              <a:rPr lang="en-US"/>
              <a:t>p-value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/>
              <a:t>Формально проверяется следующая гипотеза</a:t>
            </a:r>
            <a:r>
              <a:rPr lang="en-US" sz="2000"/>
              <a:t>:</a:t>
            </a:r>
          </a:p>
          <a:p>
            <a:pPr marL="0" indent="0">
              <a:buNone/>
            </a:pPr>
            <a:endParaRPr lang="ru-RU" sz="2000"/>
          </a:p>
          <a:p>
            <a:pPr marL="0" indent="0">
              <a:buNone/>
            </a:pPr>
            <a:r>
              <a:rPr lang="en-US" sz="2000" i="1">
                <a:latin typeface="+mj-lt"/>
              </a:rPr>
              <a:t>“</a:t>
            </a:r>
            <a:r>
              <a:rPr lang="ru-RU" sz="2000" i="1">
                <a:latin typeface="+mj-lt"/>
              </a:rPr>
              <a:t>Наблюдаемая сила взаимодействия между группами </a:t>
            </a:r>
            <a:r>
              <a:rPr lang="en-US" sz="2000" i="1">
                <a:latin typeface="+mj-lt"/>
              </a:rPr>
              <a:t>i </a:t>
            </a:r>
            <a:r>
              <a:rPr lang="ru-RU" sz="2000" i="1">
                <a:latin typeface="+mj-lt"/>
              </a:rPr>
              <a:t>и </a:t>
            </a:r>
            <a:r>
              <a:rPr lang="en-US" sz="2000" i="1">
                <a:latin typeface="+mj-lt"/>
              </a:rPr>
              <a:t>j</a:t>
            </a:r>
            <a:r>
              <a:rPr lang="ru-RU" sz="2000" i="1">
                <a:latin typeface="+mj-lt"/>
              </a:rPr>
              <a:t> не отличается от случайной, если перемешать принадлежность клеток к группам</a:t>
            </a:r>
            <a:r>
              <a:rPr lang="en-US" sz="2000" i="1">
                <a:latin typeface="+mj-lt"/>
              </a:rPr>
              <a:t>” </a:t>
            </a:r>
          </a:p>
          <a:p>
            <a:pPr marL="0" indent="0">
              <a:buNone/>
            </a:pPr>
            <a:endParaRPr lang="en-US" sz="2000" i="1">
              <a:latin typeface="+mj-lt"/>
            </a:endParaRPr>
          </a:p>
          <a:p>
            <a:pPr marL="0" indent="0">
              <a:buNone/>
            </a:pPr>
            <a:r>
              <a:rPr lang="ru-RU" sz="2000"/>
              <a:t>Таким образом</a:t>
            </a:r>
            <a:r>
              <a:rPr lang="en-US" sz="2000"/>
              <a:t>:</a:t>
            </a:r>
            <a:endParaRPr lang="ru-RU" sz="2000"/>
          </a:p>
          <a:p>
            <a:pPr marL="0" indent="0">
              <a:buNone/>
            </a:pPr>
            <a:endParaRPr lang="ru-RU" sz="2000"/>
          </a:p>
          <a:p>
            <a:r>
              <a:rPr lang="en-US" sz="2000">
                <a:latin typeface="+mj-lt"/>
              </a:rPr>
              <a:t>Magnitude</a:t>
            </a:r>
            <a:r>
              <a:rPr lang="en-US" sz="2000"/>
              <a:t> </a:t>
            </a:r>
            <a:r>
              <a:rPr lang="ru-RU" sz="2000"/>
              <a:t>говорит насколько сильное взаимодействие </a:t>
            </a:r>
          </a:p>
          <a:p>
            <a:endParaRPr lang="ru-RU" sz="2000"/>
          </a:p>
          <a:p>
            <a:r>
              <a:rPr lang="en-US" sz="2000">
                <a:latin typeface="+mj-lt"/>
              </a:rPr>
              <a:t>p-value</a:t>
            </a:r>
            <a:r>
              <a:rPr lang="en-US" sz="2000"/>
              <a:t> </a:t>
            </a:r>
            <a:r>
              <a:rPr lang="ru-RU" sz="2000"/>
              <a:t>– насколько оно специфично именно для данных клеточных типов</a:t>
            </a:r>
            <a:endParaRPr lang="en-US" sz="2000"/>
          </a:p>
          <a:p>
            <a:pPr marL="0" indent="0">
              <a:buNone/>
            </a:pPr>
            <a:endParaRPr lang="ru-RU" sz="2000" i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4264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T-ALL </a:t>
            </a:r>
            <a:r>
              <a:rPr lang="ru-RU"/>
              <a:t>и </a:t>
            </a:r>
            <a:r>
              <a:rPr lang="en-US"/>
              <a:t>cell-to-cell communication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/>
              <a:t>T-acute lymphoblastic leukemia (T-ALL)</a:t>
            </a:r>
            <a:r>
              <a:rPr lang="en-US" sz="2000"/>
              <a:t>:</a:t>
            </a:r>
          </a:p>
          <a:p>
            <a:pPr marL="0" indent="0">
              <a:buNone/>
            </a:pPr>
            <a:endParaRPr lang="ru-RU" sz="2000"/>
          </a:p>
          <a:p>
            <a:pPr marL="0" indent="0">
              <a:buNone/>
            </a:pPr>
            <a:r>
              <a:rPr lang="ru-RU" sz="2000"/>
              <a:t> • Агрессивное злокачественное заболевание Т-клеточного происхождения</a:t>
            </a:r>
          </a:p>
          <a:p>
            <a:pPr marL="0" indent="0">
              <a:buNone/>
            </a:pPr>
            <a:r>
              <a:rPr lang="ru-RU" sz="2000"/>
              <a:t> • Характеризуется высокой клеточной гетерогенностью</a:t>
            </a:r>
          </a:p>
          <a:p>
            <a:pPr marL="0" indent="0">
              <a:buNone/>
            </a:pPr>
            <a:r>
              <a:rPr lang="ru-RU" sz="2000"/>
              <a:t> • Опухолевые клетки активно взаимодействуют с иммунным микроокружением</a:t>
            </a:r>
          </a:p>
          <a:p>
            <a:pPr marL="0" indent="0">
              <a:buNone/>
            </a:pPr>
            <a:endParaRPr lang="ru-RU" sz="2000"/>
          </a:p>
          <a:p>
            <a:pPr marL="0" indent="0">
              <a:buNone/>
            </a:pPr>
            <a:r>
              <a:rPr lang="ru-RU" sz="2000"/>
              <a:t>Этот кейс интересен для анализа коммуникаций, т.к. есть четкое разделение на:</a:t>
            </a:r>
          </a:p>
          <a:p>
            <a:pPr marL="0" indent="0">
              <a:buNone/>
            </a:pPr>
            <a:endParaRPr lang="ru-RU" sz="2000"/>
          </a:p>
          <a:p>
            <a:pPr marL="457200" lvl="1" indent="0">
              <a:buNone/>
            </a:pPr>
            <a:r>
              <a:rPr lang="ru-RU" sz="1600"/>
              <a:t> </a:t>
            </a:r>
            <a:r>
              <a:rPr lang="ru-RU" sz="1800"/>
              <a:t>• опухолевые T-клетки</a:t>
            </a:r>
          </a:p>
          <a:p>
            <a:pPr marL="457200" lvl="1" indent="0">
              <a:buNone/>
            </a:pPr>
            <a:r>
              <a:rPr lang="ru-RU" sz="1800"/>
              <a:t> • нормальные T-клеточные субпопуляции</a:t>
            </a:r>
          </a:p>
          <a:p>
            <a:pPr marL="457200" lvl="1" indent="0">
              <a:buNone/>
            </a:pPr>
            <a:r>
              <a:rPr lang="ru-RU" sz="1800"/>
              <a:t> • NK-клетки и B-клетки</a:t>
            </a:r>
          </a:p>
        </p:txBody>
      </p:sp>
    </p:spTree>
    <p:extLst>
      <p:ext uri="{BB962C8B-B14F-4D97-AF65-F5344CB8AC3E}">
        <p14:creationId xmlns:p14="http://schemas.microsoft.com/office/powerpoint/2010/main" val="255255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/>
              <a:t>Данные и дизайн анализа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/>
              <a:t>Dataset: T cell leukemia (h5ad </a:t>
            </a:r>
            <a:r>
              <a:rPr lang="ru-RU" sz="2000"/>
              <a:t>из </a:t>
            </a:r>
            <a:r>
              <a:rPr lang="en-US" sz="2000"/>
              <a:t>cellxgene)</a:t>
            </a:r>
          </a:p>
          <a:p>
            <a:pPr marL="0" indent="0">
              <a:buNone/>
            </a:pPr>
            <a:r>
              <a:rPr lang="ru-RU" sz="2000"/>
              <a:t>1 </a:t>
            </a:r>
            <a:r>
              <a:rPr lang="en-US" sz="2000"/>
              <a:t>sample: </a:t>
            </a:r>
            <a:r>
              <a:rPr lang="ru-RU" sz="2000"/>
              <a:t>снижение вычислительной нагрузки и числа сравнений</a:t>
            </a:r>
          </a:p>
          <a:p>
            <a:pPr marL="0" indent="0">
              <a:buNone/>
            </a:pPr>
            <a:r>
              <a:rPr lang="ru-RU" sz="2000"/>
              <a:t>Выбранный </a:t>
            </a:r>
            <a:r>
              <a:rPr lang="en-US" sz="2000"/>
              <a:t>sample: P021_D0, n = 16,753 </a:t>
            </a:r>
            <a:r>
              <a:rPr lang="ru-RU" sz="2000"/>
              <a:t>клеток</a:t>
            </a:r>
          </a:p>
          <a:p>
            <a:pPr marL="0" indent="0">
              <a:buNone/>
            </a:pPr>
            <a:endParaRPr lang="ru-RU" sz="2000"/>
          </a:p>
          <a:p>
            <a:pPr marL="0" indent="0">
              <a:buNone/>
            </a:pPr>
            <a:r>
              <a:rPr lang="en-US" sz="2000"/>
              <a:t>“</a:t>
            </a:r>
            <a:r>
              <a:rPr lang="ru-RU" sz="2000"/>
              <a:t>Грубая</a:t>
            </a:r>
            <a:r>
              <a:rPr lang="en-US" sz="2000"/>
              <a:t>”</a:t>
            </a:r>
            <a:r>
              <a:rPr lang="ru-RU" sz="2000"/>
              <a:t> аннотация для </a:t>
            </a:r>
            <a:r>
              <a:rPr lang="en-US" sz="2000"/>
              <a:t>CCC:</a:t>
            </a:r>
            <a:endParaRPr lang="ru-RU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 • Malignant_T (malignant cell): 13,641</a:t>
            </a:r>
          </a:p>
          <a:p>
            <a:pPr marL="0" indent="0">
              <a:buNone/>
            </a:pPr>
            <a:r>
              <a:rPr lang="en-US" sz="2000"/>
              <a:t> • T_non_malignant (T cell): 1,821</a:t>
            </a:r>
          </a:p>
          <a:p>
            <a:pPr marL="0" indent="0">
              <a:buNone/>
            </a:pPr>
            <a:r>
              <a:rPr lang="en-US" sz="2000"/>
              <a:t> • NK (natural killer cell): 678</a:t>
            </a:r>
          </a:p>
          <a:p>
            <a:pPr marL="0" indent="0">
              <a:buNone/>
            </a:pPr>
            <a:r>
              <a:rPr lang="en-US" sz="2000"/>
              <a:t> • B (B cell): 347</a:t>
            </a:r>
          </a:p>
          <a:p>
            <a:pPr marL="0" indent="0">
              <a:buNone/>
            </a:pPr>
            <a:r>
              <a:rPr lang="en-US" sz="2000"/>
              <a:t> • Other (</a:t>
            </a:r>
            <a:r>
              <a:rPr lang="ru-RU" sz="2000"/>
              <a:t>все остальное): 266</a:t>
            </a:r>
            <a:endParaRPr lang="ru-RU" sz="1800"/>
          </a:p>
        </p:txBody>
      </p:sp>
    </p:spTree>
    <p:extLst>
      <p:ext uri="{BB962C8B-B14F-4D97-AF65-F5344CB8AC3E}">
        <p14:creationId xmlns:p14="http://schemas.microsoft.com/office/powerpoint/2010/main" val="1585869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/>
              <a:t>Pipeline: </a:t>
            </a:r>
            <a:r>
              <a:rPr lang="ru-RU" sz="4400"/>
              <a:t>аннотация, </a:t>
            </a:r>
            <a:r>
              <a:rPr lang="en-US" sz="4400"/>
              <a:t>LR</a:t>
            </a:r>
            <a:r>
              <a:rPr lang="ru-RU" sz="4400"/>
              <a:t>, </a:t>
            </a:r>
            <a:r>
              <a:rPr lang="en-US" sz="4400"/>
              <a:t>CellPhoneDB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1800"/>
              <a:t>QC </a:t>
            </a:r>
            <a:r>
              <a:rPr lang="ru-RU" sz="1800"/>
              <a:t>и подготовка генов</a:t>
            </a:r>
          </a:p>
          <a:p>
            <a:pPr marL="0" indent="0">
              <a:buNone/>
            </a:pPr>
            <a:r>
              <a:rPr lang="ru-RU" sz="1800"/>
              <a:t> • </a:t>
            </a:r>
            <a:r>
              <a:rPr lang="en-US" sz="1800"/>
              <a:t>QC-</a:t>
            </a:r>
            <a:r>
              <a:rPr lang="ru-RU" sz="1800"/>
              <a:t>фильтр: </a:t>
            </a:r>
            <a:r>
              <a:rPr lang="en-US" sz="1800"/>
              <a:t>n_genes_by_counts ≥ 200, pct_counts_mt ≤ 25 -&gt; </a:t>
            </a:r>
            <a:r>
              <a:rPr lang="ru-RU" sz="1800"/>
              <a:t>в этом </a:t>
            </a:r>
            <a:r>
              <a:rPr lang="en-US" sz="1800"/>
              <a:t>sample </a:t>
            </a:r>
            <a:r>
              <a:rPr lang="ru-RU" sz="1800"/>
              <a:t>фильтр ничего не удалил (16,487 клеток)</a:t>
            </a:r>
          </a:p>
          <a:p>
            <a:pPr marL="0" indent="0">
              <a:buNone/>
            </a:pPr>
            <a:r>
              <a:rPr lang="ru-RU" sz="1800"/>
              <a:t> • Приведение </a:t>
            </a:r>
            <a:r>
              <a:rPr lang="en-US" sz="1800"/>
              <a:t>var_names </a:t>
            </a:r>
            <a:r>
              <a:rPr lang="ru-RU" sz="1800"/>
              <a:t>к символам генов (</a:t>
            </a:r>
            <a:r>
              <a:rPr lang="en-US" sz="1800"/>
              <a:t>feature_name), </a:t>
            </a:r>
            <a:r>
              <a:rPr lang="ru-RU" sz="1800"/>
              <a:t>проверка ключевых маркеров: </a:t>
            </a:r>
            <a:r>
              <a:rPr lang="en-US" sz="1800"/>
              <a:t>CD274 (PD-L1), PDCD1 (PD-1), CTLA4, TRAC, MS4A1, NKG7</a:t>
            </a:r>
          </a:p>
          <a:p>
            <a:pPr marL="0" indent="0">
              <a:buNone/>
            </a:pPr>
            <a:endParaRPr lang="en-US" sz="1800"/>
          </a:p>
          <a:p>
            <a:pPr marL="0" indent="0">
              <a:buNone/>
            </a:pPr>
            <a:r>
              <a:rPr lang="ru-RU" sz="1800"/>
              <a:t>Лиганд–рецептор</a:t>
            </a:r>
          </a:p>
          <a:p>
            <a:pPr marL="0" indent="0">
              <a:buNone/>
            </a:pPr>
            <a:r>
              <a:rPr lang="ru-RU" sz="1800"/>
              <a:t> • Фиксирую базу: </a:t>
            </a:r>
            <a:r>
              <a:rPr lang="en-US" sz="1800"/>
              <a:t>CellPhoneDB (</a:t>
            </a:r>
            <a:r>
              <a:rPr lang="ru-RU" sz="1800"/>
              <a:t>через </a:t>
            </a:r>
            <a:r>
              <a:rPr lang="en-US" sz="1800"/>
              <a:t>resource_name="cellphonedb")</a:t>
            </a:r>
          </a:p>
          <a:p>
            <a:pPr marL="0" indent="0">
              <a:buNone/>
            </a:pPr>
            <a:endParaRPr lang="en-US" sz="1800"/>
          </a:p>
          <a:p>
            <a:pPr marL="0" indent="0">
              <a:buNone/>
            </a:pPr>
            <a:r>
              <a:rPr lang="ru-RU" sz="1800"/>
              <a:t>Метод </a:t>
            </a:r>
            <a:r>
              <a:rPr lang="en-US" sz="1800"/>
              <a:t>CellPhoneDBv2 (LIANA)</a:t>
            </a:r>
          </a:p>
          <a:p>
            <a:pPr marL="0" indent="0">
              <a:buNone/>
            </a:pPr>
            <a:r>
              <a:rPr lang="en-US" sz="1800"/>
              <a:t> • </a:t>
            </a:r>
            <a:r>
              <a:rPr lang="ru-RU" sz="1800"/>
              <a:t>Статистика “сила” взаимодействия: </a:t>
            </a:r>
            <a:r>
              <a:rPr lang="en-US" sz="1800"/>
              <a:t>LRmeans = (L̄ + R̄)/2</a:t>
            </a:r>
          </a:p>
          <a:p>
            <a:pPr marL="0" indent="0">
              <a:buNone/>
            </a:pPr>
            <a:r>
              <a:rPr lang="en-US" sz="1800"/>
              <a:t> • </a:t>
            </a:r>
            <a:r>
              <a:rPr lang="ru-RU" sz="1800"/>
              <a:t>Значимость: пермутационный </a:t>
            </a:r>
            <a:r>
              <a:rPr lang="en-US" sz="1800"/>
              <a:t>p-value (n_perms = 500)</a:t>
            </a:r>
          </a:p>
          <a:p>
            <a:pPr marL="0" indent="0">
              <a:buNone/>
            </a:pPr>
            <a:r>
              <a:rPr lang="en-US" sz="1800"/>
              <a:t> • </a:t>
            </a:r>
            <a:r>
              <a:rPr lang="ru-RU" sz="1800"/>
              <a:t>Фильтрация: </a:t>
            </a:r>
            <a:r>
              <a:rPr lang="en-US" sz="1800"/>
              <a:t>expr_prop ≥ 0.1, p ≤ 0.01</a:t>
            </a:r>
          </a:p>
          <a:p>
            <a:pPr marL="0" indent="0">
              <a:buNone/>
            </a:pPr>
            <a:endParaRPr lang="en-US" sz="1800"/>
          </a:p>
          <a:p>
            <a:pPr marL="0" indent="0">
              <a:buNone/>
            </a:pPr>
            <a:r>
              <a:rPr lang="ru-RU" sz="1800"/>
              <a:t>Результат</a:t>
            </a:r>
          </a:p>
          <a:p>
            <a:pPr marL="0" indent="0">
              <a:buNone/>
            </a:pPr>
            <a:r>
              <a:rPr lang="ru-RU" sz="1800"/>
              <a:t> • Всего </a:t>
            </a:r>
            <a:r>
              <a:rPr lang="en-US" sz="1800"/>
              <a:t>LR-</a:t>
            </a:r>
            <a:r>
              <a:rPr lang="ru-RU" sz="1800"/>
              <a:t>пар: 296, значимых: 196</a:t>
            </a:r>
          </a:p>
          <a:p>
            <a:pPr marL="0" indent="0">
              <a:buNone/>
            </a:pPr>
            <a:r>
              <a:rPr lang="ru-RU" sz="1800"/>
              <a:t> • </a:t>
            </a:r>
            <a:r>
              <a:rPr lang="en-US" sz="1800"/>
              <a:t>Edge-level </a:t>
            </a:r>
            <a:r>
              <a:rPr lang="ru-RU" sz="1800"/>
              <a:t>суммарная сила (</a:t>
            </a:r>
            <a:r>
              <a:rPr lang="en-US" sz="1800"/>
              <a:t>sum LRmeans): </a:t>
            </a:r>
            <a:r>
              <a:rPr lang="ru-RU" sz="1800"/>
              <a:t>лидируют </a:t>
            </a:r>
            <a:r>
              <a:rPr lang="en-US" sz="1800"/>
              <a:t>NK↔NK, Malignant_T→NK, T_non_malignant→NK, B→NK</a:t>
            </a:r>
            <a:endParaRPr lang="ru-RU" sz="1800"/>
          </a:p>
        </p:txBody>
      </p:sp>
    </p:spTree>
    <p:extLst>
      <p:ext uri="{BB962C8B-B14F-4D97-AF65-F5344CB8AC3E}">
        <p14:creationId xmlns:p14="http://schemas.microsoft.com/office/powerpoint/2010/main" val="2864481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86" y="0"/>
            <a:ext cx="10515600" cy="1325563"/>
          </a:xfrm>
        </p:spPr>
        <p:txBody>
          <a:bodyPr/>
          <a:lstStyle/>
          <a:p>
            <a:r>
              <a:rPr lang="ru-RU"/>
              <a:t>Формирование кластеров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CE5DAE4A-F6EB-4894-B8F5-82B22E1F9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2373" y="1208598"/>
            <a:ext cx="6487253" cy="500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8504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86" y="0"/>
            <a:ext cx="10515600" cy="1325563"/>
          </a:xfrm>
        </p:spPr>
        <p:txBody>
          <a:bodyPr/>
          <a:lstStyle/>
          <a:p>
            <a:r>
              <a:rPr lang="ru-RU"/>
              <a:t>Финальная аннотация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24536F8-285D-490F-BC2C-91F481E45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49350"/>
            <a:ext cx="12192000" cy="4557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615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96" y="70927"/>
            <a:ext cx="10515600" cy="1325563"/>
          </a:xfrm>
        </p:spPr>
        <p:txBody>
          <a:bodyPr/>
          <a:lstStyle/>
          <a:p>
            <a:r>
              <a:rPr lang="ru-RU" sz="4400"/>
              <a:t>Результаты </a:t>
            </a:r>
            <a:r>
              <a:rPr lang="en-US" sz="4400"/>
              <a:t>CellPhoneDB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096" y="1554348"/>
            <a:ext cx="67711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/>
              <a:t> • Максимальная суммарная сигнализация связана с NK-клетками</a:t>
            </a:r>
          </a:p>
          <a:p>
            <a:pPr marL="0" indent="0">
              <a:buNone/>
            </a:pPr>
            <a:r>
              <a:rPr lang="ru-RU" sz="1800"/>
              <a:t> • Сильные ребра:</a:t>
            </a:r>
          </a:p>
          <a:p>
            <a:pPr marL="457200" lvl="1" indent="0">
              <a:buNone/>
            </a:pPr>
            <a:r>
              <a:rPr lang="ru-RU" sz="1400"/>
              <a:t> • NK → NK</a:t>
            </a:r>
          </a:p>
          <a:p>
            <a:pPr marL="457200" lvl="1" indent="0">
              <a:buNone/>
            </a:pPr>
            <a:r>
              <a:rPr lang="ru-RU" sz="1400"/>
              <a:t> • </a:t>
            </a:r>
            <a:r>
              <a:rPr lang="en-US" sz="1400"/>
              <a:t>T-ALL</a:t>
            </a:r>
            <a:r>
              <a:rPr lang="ru-RU" sz="1400"/>
              <a:t> → NK</a:t>
            </a:r>
          </a:p>
          <a:p>
            <a:pPr marL="457200" lvl="1" indent="0">
              <a:buNone/>
            </a:pPr>
            <a:r>
              <a:rPr lang="ru-RU" sz="1400"/>
              <a:t> • </a:t>
            </a:r>
            <a:r>
              <a:rPr lang="en-US" sz="1400"/>
              <a:t>CD4 T</a:t>
            </a:r>
            <a:r>
              <a:rPr lang="ru-RU" sz="1400"/>
              <a:t> → NK</a:t>
            </a:r>
          </a:p>
          <a:p>
            <a:pPr marL="457200" lvl="1" indent="0">
              <a:buNone/>
            </a:pPr>
            <a:r>
              <a:rPr lang="ru-RU" sz="1400"/>
              <a:t> • B → NK</a:t>
            </a:r>
            <a:endParaRPr lang="ru-RU" sz="1800"/>
          </a:p>
          <a:p>
            <a:pPr marL="0" indent="0">
              <a:buNone/>
            </a:pPr>
            <a:r>
              <a:rPr lang="ru-RU" sz="1800"/>
              <a:t>• CellPhoneDB выделяет NK-клетки как центральный узел коммуникаций</a:t>
            </a:r>
          </a:p>
          <a:p>
            <a:pPr marL="0" indent="0">
              <a:buNone/>
            </a:pPr>
            <a:r>
              <a:rPr lang="ru-RU" sz="1800"/>
              <a:t> • Возможно это отражает высокую экспрессию универсальных иммунных LR (HLA–KLR, MIF–CD74 и др.)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1D9C92C-D905-498C-A421-1E85789C3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964" y="986107"/>
            <a:ext cx="5533219" cy="4671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0475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Результаты </a:t>
            </a:r>
            <a:r>
              <a:rPr lang="en-US" sz="4400"/>
              <a:t>Geometric mean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17B23-5838-4B18-9E5C-BA320B2AC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5172" y="1852653"/>
            <a:ext cx="4664102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sz="2000"/>
              <a:t>Топ по </a:t>
            </a:r>
            <a:r>
              <a:rPr lang="en-US" sz="2000"/>
              <a:t>gmean:</a:t>
            </a:r>
          </a:p>
          <a:p>
            <a:r>
              <a:rPr lang="en-US" sz="2000"/>
              <a:t>NK → NK = 19.34 (</a:t>
            </a:r>
            <a:r>
              <a:rPr lang="ru-RU" sz="2000"/>
              <a:t>самое большое)</a:t>
            </a:r>
          </a:p>
          <a:p>
            <a:endParaRPr lang="ru-RU" sz="2000"/>
          </a:p>
          <a:p>
            <a:r>
              <a:rPr lang="en-US" sz="2000"/>
              <a:t>NK → B = 11.12</a:t>
            </a:r>
          </a:p>
          <a:p>
            <a:endParaRPr lang="en-US" sz="2000"/>
          </a:p>
          <a:p>
            <a:r>
              <a:rPr lang="en-US" sz="2000"/>
              <a:t>NK → Other = 10.02</a:t>
            </a:r>
          </a:p>
          <a:p>
            <a:endParaRPr lang="en-US" sz="2000"/>
          </a:p>
          <a:p>
            <a:r>
              <a:rPr lang="en-US" sz="2000"/>
              <a:t>NK → CD4T = 8.09</a:t>
            </a:r>
          </a:p>
          <a:p>
            <a:endParaRPr lang="en-US" sz="2000"/>
          </a:p>
          <a:p>
            <a:r>
              <a:rPr lang="en-US" sz="2000"/>
              <a:t>NK → T-ALL = 8.92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 NK </a:t>
            </a:r>
            <a:r>
              <a:rPr lang="ru-RU" sz="2000"/>
              <a:t>остаются центром коммуникации</a:t>
            </a:r>
            <a:endParaRPr lang="ru-RU" sz="180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C7DF495-37E6-44EF-BDD2-933AEAD9D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726" y="1852653"/>
            <a:ext cx="4930452" cy="4162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6891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612" y="52998"/>
            <a:ext cx="10515600" cy="1325563"/>
          </a:xfrm>
        </p:spPr>
        <p:txBody>
          <a:bodyPr/>
          <a:lstStyle/>
          <a:p>
            <a:r>
              <a:rPr lang="ru-RU"/>
              <a:t>Сравнение</a:t>
            </a:r>
            <a:r>
              <a:rPr lang="en-US"/>
              <a:t>: CellChatDB vs Geometric mean</a:t>
            </a:r>
            <a:endParaRPr lang="ru-RU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F3F1F9D-A91D-476E-96C6-3639E5AF3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1102" y="1378561"/>
            <a:ext cx="5103026" cy="5113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77289C-A34A-4992-A567-416B16D33108}"/>
              </a:ext>
            </a:extLst>
          </p:cNvPr>
          <p:cNvSpPr txBox="1"/>
          <p:nvPr/>
        </p:nvSpPr>
        <p:spPr>
          <a:xfrm>
            <a:off x="8248816" y="2181074"/>
            <a:ext cx="3312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/>
              <a:t>Методы практически одинаково ранжируют силы взаимодействий</a:t>
            </a:r>
          </a:p>
        </p:txBody>
      </p:sp>
    </p:spTree>
    <p:extLst>
      <p:ext uri="{BB962C8B-B14F-4D97-AF65-F5344CB8AC3E}">
        <p14:creationId xmlns:p14="http://schemas.microsoft.com/office/powerpoint/2010/main" val="1695253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612" y="52998"/>
            <a:ext cx="10515600" cy="1325563"/>
          </a:xfrm>
        </p:spPr>
        <p:txBody>
          <a:bodyPr/>
          <a:lstStyle/>
          <a:p>
            <a:r>
              <a:rPr lang="ru-RU"/>
              <a:t>Сравнение</a:t>
            </a:r>
            <a:r>
              <a:rPr lang="en-US"/>
              <a:t>: CellChatDB vs Geometric mean</a:t>
            </a:r>
            <a:endParaRPr lang="ru-RU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B81E014-EE51-475A-A2B6-E19212397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7528" y="1518700"/>
            <a:ext cx="4815768" cy="4822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1588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B0466B-6BCE-4680-99C9-9E9DA278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612" y="52998"/>
            <a:ext cx="10515600" cy="1325563"/>
          </a:xfrm>
        </p:spPr>
        <p:txBody>
          <a:bodyPr/>
          <a:lstStyle/>
          <a:p>
            <a:r>
              <a:rPr lang="ru-RU"/>
              <a:t>Выводы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111CF16B-DFD0-4754-99BC-484204C68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239" y="1895396"/>
            <a:ext cx="5209431" cy="13964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/>
              <a:t>scRNA-seq </a:t>
            </a:r>
            <a:r>
              <a:rPr lang="ru-RU" sz="1800"/>
              <a:t>позволяет выявлять межклеточные взаимодействия через </a:t>
            </a:r>
            <a:r>
              <a:rPr lang="en-US" sz="1800"/>
              <a:t>ligand–receptor </a:t>
            </a:r>
            <a:r>
              <a:rPr lang="ru-RU" sz="1800"/>
              <a:t>анализ</a:t>
            </a:r>
          </a:p>
          <a:p>
            <a:pPr marL="0" indent="0">
              <a:buNone/>
            </a:pPr>
            <a:endParaRPr lang="ru-RU" sz="1800"/>
          </a:p>
          <a:p>
            <a:pPr marL="0" indent="0">
              <a:buNone/>
            </a:pPr>
            <a:r>
              <a:rPr lang="ru-RU" sz="1800"/>
              <a:t>В опухолевом микроокружении ожидаются сильные сигналы между опухолевыми и иммунными клетками</a:t>
            </a:r>
          </a:p>
          <a:p>
            <a:pPr marL="0" indent="0">
              <a:buNone/>
            </a:pPr>
            <a:r>
              <a:rPr lang="ru-RU" sz="1800"/>
              <a:t>Разные методы (</a:t>
            </a:r>
            <a:r>
              <a:rPr lang="en-US" sz="1800"/>
              <a:t>CellPhoneDB, Geometric Mean) </a:t>
            </a:r>
            <a:r>
              <a:rPr lang="ru-RU" sz="1800"/>
              <a:t>должны давать</a:t>
            </a:r>
          </a:p>
          <a:p>
            <a:pPr marL="0" indent="0">
              <a:buNone/>
            </a:pPr>
            <a:r>
              <a:rPr lang="ru-RU" sz="1800"/>
              <a:t>схожую структуру взаимодействий, но не обязательно одинаковые </a:t>
            </a:r>
            <a:r>
              <a:rPr lang="en-US" sz="1800"/>
              <a:t>p-values</a:t>
            </a:r>
            <a:endParaRPr lang="ru-RU" sz="1800"/>
          </a:p>
          <a:p>
            <a:pPr marL="0" indent="0">
              <a:buNone/>
            </a:pPr>
            <a:endParaRPr lang="ru-RU" sz="1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902100-ED87-4523-BC3B-680DE520923C}"/>
              </a:ext>
            </a:extLst>
          </p:cNvPr>
          <p:cNvSpPr txBox="1"/>
          <p:nvPr/>
        </p:nvSpPr>
        <p:spPr>
          <a:xfrm>
            <a:off x="6097326" y="1651915"/>
            <a:ext cx="609467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/>
              <a:t>Magnitude </a:t>
            </a:r>
            <a:r>
              <a:rPr lang="ru-RU" sz="1800"/>
              <a:t>сильно согласованы между методами</a:t>
            </a:r>
          </a:p>
          <a:p>
            <a:pPr marL="0" indent="0">
              <a:buNone/>
            </a:pPr>
            <a:r>
              <a:rPr lang="ru-RU" sz="1800"/>
              <a:t>- </a:t>
            </a:r>
            <a:r>
              <a:rPr lang="en-US" sz="1800"/>
              <a:t>Spearman </a:t>
            </a:r>
            <a:r>
              <a:rPr lang="el-GR" sz="1800"/>
              <a:t>ρ ≈ 0.97</a:t>
            </a:r>
          </a:p>
          <a:p>
            <a:pPr marL="0" indent="0">
              <a:buNone/>
            </a:pPr>
            <a:endParaRPr lang="el-GR" sz="1800"/>
          </a:p>
          <a:p>
            <a:pPr marL="0" indent="0">
              <a:buNone/>
            </a:pPr>
            <a:r>
              <a:rPr lang="en-US" sz="1800"/>
              <a:t>p-values </a:t>
            </a:r>
            <a:r>
              <a:rPr lang="ru-RU" sz="1800"/>
              <a:t>также хорошо коррелируют, но слабее</a:t>
            </a:r>
          </a:p>
          <a:p>
            <a:pPr marL="0" indent="0">
              <a:buNone/>
            </a:pPr>
            <a:r>
              <a:rPr lang="ru-RU"/>
              <a:t>-</a:t>
            </a:r>
            <a:r>
              <a:rPr lang="ru-RU" sz="1800"/>
              <a:t> </a:t>
            </a:r>
            <a:r>
              <a:rPr lang="en-US" sz="1800"/>
              <a:t>Spearman </a:t>
            </a:r>
            <a:r>
              <a:rPr lang="el-GR" sz="1800"/>
              <a:t>ρ ≈ 0.85</a:t>
            </a:r>
          </a:p>
          <a:p>
            <a:pPr marL="0" indent="0">
              <a:buNone/>
            </a:pPr>
            <a:endParaRPr lang="el-GR" sz="1800"/>
          </a:p>
          <a:p>
            <a:pPr marL="0" indent="0">
              <a:buNone/>
            </a:pPr>
            <a:r>
              <a:rPr lang="ru-RU" sz="1800"/>
              <a:t>Сетевые и </a:t>
            </a:r>
            <a:r>
              <a:rPr lang="en-US" sz="1800"/>
              <a:t>heatmap-</a:t>
            </a:r>
            <a:r>
              <a:rPr lang="ru-RU" sz="1800"/>
              <a:t>визуализации показывают:</a:t>
            </a:r>
          </a:p>
          <a:p>
            <a:pPr marL="0" indent="0">
              <a:buNone/>
            </a:pPr>
            <a:endParaRPr lang="ru-RU" sz="1800"/>
          </a:p>
          <a:p>
            <a:pPr marL="0" indent="0">
              <a:buNone/>
            </a:pPr>
            <a:r>
              <a:rPr lang="en-US" sz="1800"/>
              <a:t>NK-</a:t>
            </a:r>
            <a:r>
              <a:rPr lang="ru-RU" sz="1800"/>
              <a:t>клетки как центральный узел коммуникации</a:t>
            </a:r>
          </a:p>
          <a:p>
            <a:pPr marL="0" indent="0">
              <a:buNone/>
            </a:pPr>
            <a:endParaRPr lang="ru-RU" sz="1800"/>
          </a:p>
          <a:p>
            <a:pPr marL="0" indent="0">
              <a:buNone/>
            </a:pPr>
            <a:r>
              <a:rPr lang="ru-RU" sz="1800"/>
              <a:t>Активные взаимодействия </a:t>
            </a:r>
            <a:r>
              <a:rPr lang="en-US" sz="1800"/>
              <a:t>T-ALL &lt;-&gt; immune cells</a:t>
            </a:r>
          </a:p>
          <a:p>
            <a:pPr marL="0" indent="0">
              <a:buNone/>
            </a:pPr>
            <a:endParaRPr lang="en-US" sz="1800"/>
          </a:p>
          <a:p>
            <a:pPr marL="0" indent="0">
              <a:buNone/>
            </a:pPr>
            <a:r>
              <a:rPr lang="en-US" sz="1800"/>
              <a:t>(Kumar et al., 2018; Armingol et al., 2021)</a:t>
            </a:r>
            <a:endParaRPr lang="ru-RU" sz="1800"/>
          </a:p>
        </p:txBody>
      </p:sp>
    </p:spTree>
    <p:extLst>
      <p:ext uri="{BB962C8B-B14F-4D97-AF65-F5344CB8AC3E}">
        <p14:creationId xmlns:p14="http://schemas.microsoft.com/office/powerpoint/2010/main" val="131512725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761</Words>
  <Application>Microsoft Office PowerPoint</Application>
  <PresentationFormat>Широкоэкранный</PresentationFormat>
  <Paragraphs>122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Тема Office</vt:lpstr>
      <vt:lpstr>Анализ межклеточных взаимодействий в liana-py</vt:lpstr>
      <vt:lpstr>Для чего нужен этот анализ?</vt:lpstr>
      <vt:lpstr>Что такое LIANA ?</vt:lpstr>
      <vt:lpstr>Методы LIANA</vt:lpstr>
      <vt:lpstr>Методы LIANA</vt:lpstr>
      <vt:lpstr>Пермутационный тест и p-value</vt:lpstr>
      <vt:lpstr>T-ALL и cell-to-cell communication</vt:lpstr>
      <vt:lpstr>Данные и дизайн анализа</vt:lpstr>
      <vt:lpstr>Pipeline: аннотация, LR, CellPhoneDB</vt:lpstr>
      <vt:lpstr>Формирование кластеров</vt:lpstr>
      <vt:lpstr>Финальная аннотация</vt:lpstr>
      <vt:lpstr>Результаты CellPhoneDB</vt:lpstr>
      <vt:lpstr>Результаты Geometric mean</vt:lpstr>
      <vt:lpstr>Сравнение: CellChatDB vs Geometric mean</vt:lpstr>
      <vt:lpstr>Сравнение: CellChatDB vs Geometric mean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межклеточных взаимодействий в liana-py</dc:title>
  <dc:creator>Merab Vagabov</dc:creator>
  <cp:lastModifiedBy>Merab Vagabov</cp:lastModifiedBy>
  <cp:revision>33</cp:revision>
  <dcterms:created xsi:type="dcterms:W3CDTF">2026-01-29T09:47:27Z</dcterms:created>
  <dcterms:modified xsi:type="dcterms:W3CDTF">2026-01-30T16:05:47Z</dcterms:modified>
</cp:coreProperties>
</file>